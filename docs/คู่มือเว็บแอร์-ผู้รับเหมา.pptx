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4" r:id="rId10"/>
    <p:sldId id="275" r:id="rId11"/>
    <p:sldId id="281" r:id="rId12"/>
    <p:sldId id="285" r:id="rId13"/>
    <p:sldId id="291" r:id="rId14"/>
    <p:sldId id="29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0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คู่มือนี้ใช้รูปหน้าจอจริงของระบบ ข้อมูลในรูปเป็นข้อมูลทดสอบ เลขวงกลมสีส้มในรูปตรงกับขั้นตอนด้านข้างของแต่ละหน้า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09728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384234"/>
            <a:ext cx="10769600" cy="466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0972800" cy="40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384234"/>
            <a:ext cx="10769600" cy="466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64848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ITEL · AIR CONDITIONING MANAGEMENT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86914"/>
            <a:ext cx="10883392" cy="1427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ระบบบริหารจัดการเครื่องปรับอากาศ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842941"/>
            <a:ext cx="108839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th-TH" sz="200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ฉบับผู้รับเหมา — ดูงาน กรอกใบล้าง ใบซ่อม ใบติดตั้ง ทำตามเลขสีส้มบนหน้าจอได้เลย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4808141"/>
            <a:ext cx="1027179" cy="401307"/>
          </a:xfrm>
          <a:prstGeom prst="roundRect">
            <a:avLst>
              <a:gd name="adj" fmla="val 50000"/>
            </a:avLst>
          </a:prstGeom>
          <a:solidFill>
            <a:srgbClr val="1C3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Username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ที่ได้รับจากผู้ดูแลระบบ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35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Password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3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44635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ระบบพาไปหน้าแรกของบทบาทนั้นเอง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ลืมรหัสผ่าน: ติดต่อ Infrastructure ให้ตั้งรหัสใหม่ในหน้าจัดการผู้ใช้ · เปิดบนมือถือได้ ใช้ที่อยู่เว็บเดียวกัน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6211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0400" y="1257235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</p:sp>
      <p:pic>
        <p:nvPicPr>
          <p:cNvPr id="13" name="Image 0" descr="หน้าเข้าสู่ระบบ มีช่อง Username Password และปุ่มเข้าสู่ระบบ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5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4473575" y="1260410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11C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0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1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078429"/>
            <a:ext cx="10883392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ล้างแอร์ตามแผน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924238"/>
            <a:ext cx="91567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C9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ตั้งนัด → ผู้รับเหมากรอกฟอร์มบนมือถือ → อนุมัติ 3 ขั้น → ได้เอกสาร PDF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1 · ภาพรวม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 1 รอบ เดินงานแบบนี้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336613"/>
            <a:ext cx="1802077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1633" y="1515467"/>
            <a:ext cx="16200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53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1633" y="1804988"/>
            <a:ext cx="149516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ตั้งนัด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1633" y="2140217"/>
            <a:ext cx="14951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ใส่วันนัดและผู้รับเหมาในแผนล้างแอร์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9627" y="2058925"/>
            <a:ext cx="2794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03802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82660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ขั้น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82660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กรอกฟอร์ม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082660" y="2140217"/>
            <a:ext cx="149522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 21 ข้อ + รูป 9 ช่อง/เครื่อง หรือแนบไฟล์เขียนมือ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0720" y="2058925"/>
            <a:ext cx="2794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94895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73754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· ขั้น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73754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อนุมัติ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373754" y="214021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ผู้ควบคุมงาน ตรวจเอกสารแล้วกดอนุมัติ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1814" y="2058925"/>
            <a:ext cx="2794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85989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664847" y="151546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 · ขั้น 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64847" y="201830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อนุมัติ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664847" y="235353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 Regional ผู้ตรวจสอบ กดอนุมัติ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92907" y="2058925"/>
            <a:ext cx="279400" cy="1778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777082" y="1336613"/>
            <a:ext cx="1802143" cy="1622425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955940" y="1515467"/>
            <a:ext cx="149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53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INFRA · ขั้น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955940" y="1804988"/>
            <a:ext cx="149522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 อนุมัติ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955940" y="2140217"/>
            <a:ext cx="14952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ขั้นสุดท้าย เอกสารสมบูรณ์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09600" y="3216213"/>
            <a:ext cx="10972800" cy="939800"/>
          </a:xfrm>
          <a:prstGeom prst="roundRect">
            <a:avLst>
              <a:gd name="adj" fmla="val 10811"/>
            </a:avLst>
          </a:prstGeom>
          <a:solidFill>
            <a:srgbClr val="12294A"/>
          </a:solidFill>
          <a:ln/>
        </p:spPr>
      </p:sp>
      <p:pic>
        <p:nvPicPr>
          <p:cNvPr id="29" name="Image 4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600" y="3508313"/>
            <a:ext cx="355600" cy="355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419413"/>
            <a:ext cx="102555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ผลที่ได้:</a:t>
            </a:r>
            <a:r>
              <a:rPr lang="en-US" sz="150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PDF ฉบับสมบูรณ์ (ชื่อผู้อนุมัติลงในช่องลงนามเอง) · รอบในแผนเปลี่ยนเป็น "ล้างเสร็จสิ้น" · ค่าล้างเข้างบประมาณ · ลงประวัติเครื่อง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09600" y="4410013"/>
            <a:ext cx="113019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ระหว่างรออนุมัติ PDF มีลายน้ำ "รออนุมัติ" · ถ้าแก้รูปหรือเนื้อหาเอกสาร ต้องอนุมัติใหม่ตั้งแต่ขั้น 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บนมือถือ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ดูงานของตัวเอง แล้วเลือกงานที่จะกรอก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แถบเตือน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งานที่เลยกำหนด และงานที่ต้องทำภายใน 30 วัน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/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ซ่อม/ติดตั้ง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ที่เครื่องที่ล้างเสร็จ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621161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อีกทาง (รูปขวา):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เมนู แบบฟอร์มเอกสาร → กรอกฟอร์มล้าง → เลือกงานจากรายการ · เห็นเฉพาะงานที่ได้รับมอบหมาย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621161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3" name="Image 0" descr="หน้าตารางงานของผู้รับเหมาบนมือถือ มีแถบเตือนเลยกำหน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6" name="Image 1" descr="หน้าต่างเลือกงานล้างที่ได้รับมอบหมา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 เลือกเครื่อง และรอบในแผน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เขียนใบด้วยมือหรือกรอก Excel มาแล้ว? 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แนบไฟล์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ไม่ต้องกรอกซ้ำ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44196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ติ๊กเครื่องที่ล้างครั้งนี้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ล้างตัวเดียว เอาติ๊กอีกตัวออก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2E7D5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ปิดงานในแผนล้างแอร์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(รูปขวา) — ระบบเลือกปีและรอบให้แล้ว ตรวจให้ตรงกับงานจริง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0"/>
            <a:ext cx="4064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ด้านบนบอกความคืบหน้า "กรอกแล้ว … ช่อง · รูป …" ตลอดการกรอก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0"/>
            <a:ext cx="4064000" cy="629841"/>
          </a:xfrm>
          <a:custGeom>
            <a:avLst/>
            <a:gdLst/>
            <a:ahLst/>
            <a:cxnLst/>
            <a:rect l="l" t="t" r="r" b="b"/>
            <a:pathLst>
              <a:path w="4064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3" name="Image 0" descr="ฟอร์มล้างส่วนบน มีกล่องเลือกได้ 2 วิธี ปุ่มแนบไฟล์ และการ์ดเลือกเครื่อ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6" name="Image 1" descr="การ์ดปิดงานในแผนล้างแอร์ เลือกปีและรอบ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 21 ข้อ และรูปถ่าย 9 ช่องต่อเครื่อง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รูปซ้าย: 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ปกติ / ผิดปกติ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ทุกข้อ ทุกเครื่อง · ข้อที่เป็นตัวเลข (อุณหภูมิ แรงดัน กระแส) พิมพ์ค่าที่วัดได้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รูปขวา: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เลือกรูปดำเนินการ ช่อง 2–5 พร้อมกัน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ได้ในครั้งเดียว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10296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1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ก่อนล้าง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ช่อง 6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หลังล้าง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ช่อง 7–9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รูปวัดค่า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ต้องกดเลือกทีละช่อง เพราะคนละขั้นตอน · ต้องครบ 9 ช่องทุกเครื่องจึงบันทึกได้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410296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0" name="Shape 8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1" name="Image 0" descr="รายการตรวจเช็ค มีปุ่มปกติ ผิดปกติ ของเครื่องที่ 1 แล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2" name="Shape 9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4" name="Image 1" descr="ส่วนรูปถ่าย 9 ช่อง และปุ่มเลือกรูปช่อง 2 ถึง 5 พร้อมกั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5" name="Shape 11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ฟอร์มล้าง ตอนที่ 3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 แล้วบันทึก — หรือแนบไฟล์แทน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ผลประเมินสภาพเครื่อง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 สมบูรณ์ หรือ ควรปรับปรุง ทุกเครื่อง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เอกสารเข้าคิวอนุมัติทันที ชื่อผู้รับเหมาลงขั้น 1 ให้เอง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10296"/>
            <a:ext cx="4064000" cy="843161"/>
          </a:xfrm>
          <a:prstGeom prst="roundRect">
            <a:avLst>
              <a:gd name="adj" fmla="val 9037"/>
            </a:avLst>
          </a:prstGeom>
          <a:solidFill>
            <a:srgbClr val="EAF3EE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4D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รูปขวา · แนบไฟล์:</a:t>
            </a:r>
            <a:r>
              <a:rPr lang="en-US" sz="1200" dirty="0">
                <a:solidFill>
                  <a:srgbClr val="1E4D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① เลือก Node ② ติ๊กเครื่องที่ล้าง แล้วแนบรูปถ่าย/สแกนใบเขียนมือ กดยืนยัน — อนุมัติ 3 ขั้นเหมือนกัน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410296"/>
            <a:ext cx="4064000" cy="843161"/>
          </a:xfrm>
          <a:custGeom>
            <a:avLst/>
            <a:gdLst/>
            <a:ahLst/>
            <a:cxnLst/>
            <a:rect l="l" t="t" r="r" b="b"/>
            <a:pathLst>
              <a:path w="4064000" h="843161">
                <a:moveTo>
                  <a:pt x="76200" y="843161"/>
                </a:moveTo>
                <a:lnTo>
                  <a:pt x="76200" y="84316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66961"/>
                </a:lnTo>
                <a:arcTo wR="38100" hR="76200" stAng="10800000" swAng="-5400000"/>
                <a:close/>
              </a:path>
            </a:pathLst>
          </a:cu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3367757"/>
            <a:ext cx="4064000" cy="416520"/>
          </a:xfrm>
          <a:prstGeom prst="roundRect">
            <a:avLst>
              <a:gd name="adj" fmla="val 18294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วันที่ล้างต้องไม่เกินวันนี้ — ปิดงานล่วงหน้าไม่ได้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3367757"/>
            <a:ext cx="4064000" cy="416520"/>
          </a:xfrm>
          <a:custGeom>
            <a:avLst/>
            <a:gdLst/>
            <a:ahLst/>
            <a:cxnLst/>
            <a:rect l="l" t="t" r="r" b="b"/>
            <a:pathLst>
              <a:path w="4064000" h="416520">
                <a:moveTo>
                  <a:pt x="76200" y="416520"/>
                </a:moveTo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40320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3" name="Image 0" descr="ส่วนผลประเมินสภาพเครื่องและปุ่มบันทึ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6" name="Image 1" descr="หน้าต่างแนบไฟล์เอกสาร เลือก Node และเลือกเครื่องที่ล้า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ผลลัพธ์ของเหตุการณ์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PDF ที่ระบบสร้างให้</a:t>
            </a:r>
            <a:endParaRPr lang="en-US" sz="28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257238"/>
            <a:ext cx="2540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1257238"/>
            <a:ext cx="6815201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หน้าตาเหมือนแบบฟอร์ม Excel เดิม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ITEL-FM-NE-004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(ล้าง) · 005 (ซ่อม) · 006 (ติดตั้ง)</a:t>
            </a:r>
            <a:endParaRPr lang="en-US" sz="14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94756"/>
            <a:ext cx="254000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200" y="18947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ช่องลงนาม 4 ช่อง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เติมชื่อและวันที่ตามคนที่กดอนุมัติแต่ละขั้น</a:t>
            </a:r>
            <a:endParaRPr lang="en-US" sz="14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288456"/>
            <a:ext cx="254000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5200" y="22884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ระหว่างรออนุมัติมีลายน้ำ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"รออนุมัติ"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หายตั้งแต่ขั้น 3 อนุมัติ</a:t>
            </a:r>
            <a:endParaRPr lang="en-US" sz="14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682156"/>
            <a:ext cx="254000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5200" y="26821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หน้าถัดไปของ PDF เป็น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ภาพถ่ายประกอบ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ทีละเครื่อง</a:t>
            </a:r>
            <a:endParaRPr lang="en-US" sz="14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3075856"/>
            <a:ext cx="254000" cy="254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5200" y="3075856"/>
            <a:ext cx="68152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มุมขวาบน: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</a:t>
            </a:r>
            <a:r>
              <a:rPr lang="en-US" sz="14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หรือ </a:t>
            </a:r>
            <a:r>
              <a:rPr lang="en-US" sz="14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 PDF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7988300" y="1257238"/>
            <a:ext cx="3594100" cy="508000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</p:sp>
      <p:pic>
        <p:nvPicPr>
          <p:cNvPr id="15" name="Image 5" descr="ตัวอย่างเอกสาร PDF บันทึกผลการล้างและตรวจสอบเครื่องปรับอากาศ พร้อมช่องลงนามครบ 4 ช่อง"/>
          <p:cNvPicPr>
            <a:picLocks noChangeAspect="1"/>
          </p:cNvPicPr>
          <p:nvPr/>
        </p:nvPicPr>
        <p:blipFill>
          <a:blip r:embed="rId4"/>
          <a:srcRect t="-32" b="-32"/>
          <a:stretch/>
        </p:blipFill>
        <p:spPr>
          <a:xfrm>
            <a:off x="7994650" y="1263588"/>
            <a:ext cx="3581400" cy="5067300"/>
          </a:xfrm>
          <a:prstGeom prst="roundRect">
            <a:avLst>
              <a:gd name="adj" fmla="val 1950"/>
            </a:avLst>
          </a:prstGeom>
        </p:spPr>
      </p:pic>
      <p:sp>
        <p:nvSpPr>
          <p:cNvPr id="16" name="Shape 8"/>
          <p:cNvSpPr/>
          <p:nvPr/>
        </p:nvSpPr>
        <p:spPr>
          <a:xfrm>
            <a:off x="7991475" y="1260413"/>
            <a:ext cx="3587750" cy="5073650"/>
          </a:xfrm>
          <a:prstGeom prst="roundRect">
            <a:avLst>
              <a:gd name="adj" fmla="val 2035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 · เมนู แบบฟอร์มเอกสาร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ค้นหาและเปิดเอกสารทั้งหมด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ปริ้นฟอร์มเปล่า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ไปเขียนมือหน้างาน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38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38238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กรอกฟอร์มล้าง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ในระบบ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19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19238"/>
            <a:ext cx="32702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ล้างแอร์ · ซ่อม · 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เลือกปี และค้นหา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583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2583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เปิดเอกสาร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ดู 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2964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2964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อนุมัติครบ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เอกสารสมบูรณ์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345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600" y="3345061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Staff · 1/4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บอกว่ารอขั้นไหนอยู่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3726061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 2 เครื่องแสดงเป็น 2 แถว เลขอ้างอิงต่อกัน (เครื่องที่ 2 มีเส้นนำหน้า)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3726061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70400" y="1257238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</p:sp>
      <p:pic>
        <p:nvPicPr>
          <p:cNvPr id="19" name="Image 0" descr="หน้าแบบฟอร์มเอกสาร แท็บล้างแอร์ ตารางเอกสารพร้อมสถานะอนุมัติ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588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4473575" y="1260413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บนมือถือ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ผู้รับเหมากรอกใบซ่อม / ใบติดตั้ง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ตารางงาน → แท็บ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ซ่อม/ติดตั้ง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เห็นวันนัด หมายเหตุ และป้าย "อีก … วัน"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833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833761"/>
            <a:ext cx="37934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กรอกใบซ่อม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(หรือ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กรอกใบติดตั้ง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2274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227461"/>
            <a:ext cx="379349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วันที่ซ่อมเสร็จ · อาการ · สาเหตุ · การแก้ไข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ค่าที่วัด อะไหล่ ค่าใช้จ่าย และรูป แล้วกดบันทึก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03996"/>
            <a:ext cx="4064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อาการเสียเติมให้จากใบแจ้งซ่อม · ใบเขียนมือใช้ปุ่ม </a:t>
            </a:r>
            <a:r>
              <a:rPr lang="en-US" sz="1200" b="1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แนบไฟล์</a:t>
            </a: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ได้เหมือนฟอร์มล้าง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" y="2803996"/>
            <a:ext cx="4064000" cy="629841"/>
          </a:xfrm>
          <a:custGeom>
            <a:avLst/>
            <a:gdLst/>
            <a:ahLst/>
            <a:cxnLst/>
            <a:rect l="l" t="t" r="r" b="b"/>
            <a:pathLst>
              <a:path w="4064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44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3" name="Image 0" descr="ตารางงานผู้รับเหมา แท็บซ่อมและติดตั้ง มีงานติดตั้งและงานซ่อ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60134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82000" y="1257238"/>
            <a:ext cx="2184400" cy="47244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pic>
        <p:nvPicPr>
          <p:cNvPr id="16" name="Image 1" descr="ฟอร์มบันทึกผลการซ่อมบนมือถื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1338257"/>
            <a:ext cx="2108200" cy="4562361"/>
          </a:xfrm>
          <a:custGeom>
            <a:avLst/>
            <a:gdLst/>
            <a:ahLst/>
            <a:cxnLst/>
            <a:rect l="l" t="t" r="r" b="b"/>
            <a:pathLst>
              <a:path w="2108200" h="4562361">
                <a:moveTo>
                  <a:pt x="0" y="96781"/>
                </a:moveTo>
                <a:arcTo wR="139700" hR="139700" stAng="10800000" swAng="2631005"/>
                <a:lnTo>
                  <a:pt x="2069245" y="0"/>
                </a:lnTo>
                <a:arcTo wR="139700" hR="139700" stAng="18968995" swAng="2631005"/>
                <a:lnTo>
                  <a:pt x="2108200" y="4465581"/>
                </a:lnTo>
                <a:arcTo wR="139700" hR="139700" stAng="0" swAng="2631005"/>
                <a:lnTo>
                  <a:pt x="38955" y="4562361"/>
                </a:lnTo>
                <a:arcTo wR="139700" hR="139700" stAng="8168995" swAng="2631005"/>
                <a:close/>
              </a:path>
            </a:pathLst>
          </a:custGeom>
        </p:spPr>
      </p:pic>
      <p:sp>
        <p:nvSpPr>
          <p:cNvPr id="17" name="Shape 13"/>
          <p:cNvSpPr/>
          <p:nvPr/>
        </p:nvSpPr>
        <p:spPr>
          <a:xfrm>
            <a:off x="8401050" y="1276288"/>
            <a:ext cx="2146300" cy="4686300"/>
          </a:xfrm>
          <a:prstGeom prst="roundRect">
            <a:avLst>
              <a:gd name="adj" fmla="val 739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 · Infrastructure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ใบติดตั้งปิดเคส · เครื่องเก่าอยู่ในคลังแอร์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3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38"/>
            <a:ext cx="235458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หน้างานซ่อม แถว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งานติดตั้งที่รอเอกสาร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มอบหมาย หรือส่งลิงก์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20648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064879"/>
            <a:ext cx="235458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ผู้รับเหมา: แบบฟอร์มเอกสาร →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กรอกฟอร์มติดตั้ง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เลือกงาน (มือถือ)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87251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872519"/>
            <a:ext cx="23545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อนุมัติครบ → เครื่อง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ใช้งานปกติ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เคสปิด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4490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3449042"/>
            <a:ext cx="23545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เครื่องเก่า: เมนู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คลังแอร์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เพิ่มโน้ต หรือ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Write off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เมื่อตัดจำหน่าย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32200" y="1257238"/>
            <a:ext cx="2095500" cy="45339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</p:spPr>
      </p:sp>
      <p:pic>
        <p:nvPicPr>
          <p:cNvPr id="13" name="Image 0" descr="หน้าต่างเลือกงานติดตั้งของผู้รับเหมาบนมือถื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0" y="1339202"/>
            <a:ext cx="2019300" cy="4369972"/>
          </a:xfrm>
          <a:custGeom>
            <a:avLst/>
            <a:gdLst/>
            <a:ahLst/>
            <a:cxnLst/>
            <a:rect l="l" t="t" r="r" b="b"/>
            <a:pathLst>
              <a:path w="2019300" h="4369972">
                <a:moveTo>
                  <a:pt x="0" y="95836"/>
                </a:moveTo>
                <a:arcTo wR="139700" hR="139700" stAng="10800000" swAng="2598924"/>
                <a:lnTo>
                  <a:pt x="1981244" y="0"/>
                </a:lnTo>
                <a:arcTo wR="139700" hR="139700" stAng="19001076" swAng="2598924"/>
                <a:lnTo>
                  <a:pt x="2019300" y="4274136"/>
                </a:lnTo>
                <a:arcTo wR="139700" hR="139700" stAng="0" swAng="2598924"/>
                <a:lnTo>
                  <a:pt x="38056" y="4369972"/>
                </a:lnTo>
                <a:arcTo wR="139700" hR="139700" stAng="8201076" swAng="2598924"/>
                <a:close/>
              </a:path>
            </a:pathLst>
          </a:custGeom>
        </p:spPr>
      </p:pic>
      <p:sp>
        <p:nvSpPr>
          <p:cNvPr id="14" name="Shape 11"/>
          <p:cNvSpPr/>
          <p:nvPr/>
        </p:nvSpPr>
        <p:spPr>
          <a:xfrm>
            <a:off x="3651250" y="1276288"/>
            <a:ext cx="2057400" cy="4495800"/>
          </a:xfrm>
          <a:prstGeom prst="roundRect">
            <a:avLst>
              <a:gd name="adj" fmla="val 7716"/>
            </a:avLst>
          </a:prstGeom>
          <a:noFill/>
          <a:ln w="38100">
            <a:solidFill>
              <a:srgbClr val="1B24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3300" y="1257238"/>
            <a:ext cx="5334000" cy="333375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</p:sp>
      <p:pic>
        <p:nvPicPr>
          <p:cNvPr id="16" name="Image 1" descr="หน้าคลังแอร์ แสดงเครื่องเก่าที่ถอดออกพร้อมปุ่ม Write off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6089650" y="1263588"/>
            <a:ext cx="5321300" cy="3321050"/>
          </a:xfrm>
          <a:prstGeom prst="roundRect">
            <a:avLst>
              <a:gd name="adj" fmla="val 2868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6086475" y="1260413"/>
            <a:ext cx="5327650" cy="3327400"/>
          </a:xfrm>
          <a:prstGeom prst="roundRect">
            <a:avLst>
              <a:gd name="adj" fmla="val 2958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ทุกบทบาท · มุมล่างซ้าย กดชื่อตัวเอง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670520"/>
            <a:ext cx="11301984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229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เปลี่ยนรหัสผ่านด้วยตัวเอง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572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2572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รหัสผ่านเดิม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แล้ว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รหัสผ่านใหม่</a:t>
            </a: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2 ครั้ง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65095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C753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1650950"/>
            <a:ext cx="32702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</a:t>
            </a:r>
            <a:r>
              <a:rPr lang="en-US" sz="1300" b="1" dirty="0">
                <a:solidFill>
                  <a:srgbClr val="1B24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044650"/>
            <a:ext cx="3556000" cy="629841"/>
          </a:xfrm>
          <a:prstGeom prst="roundRect">
            <a:avLst>
              <a:gd name="adj" fmla="val 12098"/>
            </a:avLst>
          </a:prstGeom>
          <a:solidFill>
            <a:srgbClr val="FFF3E6"/>
          </a:solidFill>
          <a:ln/>
        </p:spPr>
        <p:txBody>
          <a:bodyPr wrap="square" lIns="142782" tIns="79282" rIns="6765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ได้รหัสชั่วคราวจากผู้ดูแลระบบ ควรเปลี่ยนเป็นของตัวเองตั้งแต่เข้าใช้ครั้งแรก · ไม่บอกรหัสผ่านให้คนอื่น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2044650"/>
            <a:ext cx="3556000" cy="629841"/>
          </a:xfrm>
          <a:custGeom>
            <a:avLst/>
            <a:gdLst/>
            <a:ahLst/>
            <a:cxnLst/>
            <a:rect l="l" t="t" r="r" b="b"/>
            <a:pathLst>
              <a:path w="3556000" h="629841">
                <a:moveTo>
                  <a:pt x="76200" y="629841"/>
                </a:moveTo>
                <a:lnTo>
                  <a:pt x="76200" y="629841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53641"/>
                </a:lnTo>
                <a:arcTo wR="38100" hR="76200" stAng="10800000" swAng="-5400000"/>
                <a:close/>
              </a:path>
            </a:pathLst>
          </a:custGeom>
          <a:solidFill>
            <a:srgbClr val="E8711C"/>
          </a:solidFill>
          <a:ln/>
        </p:spPr>
      </p:sp>
      <p:sp>
        <p:nvSpPr>
          <p:cNvPr id="10" name="Shape 8"/>
          <p:cNvSpPr/>
          <p:nvPr/>
        </p:nvSpPr>
        <p:spPr>
          <a:xfrm>
            <a:off x="4470400" y="1257250"/>
            <a:ext cx="7010400" cy="4381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203200" dist="76200" dir="5400000" algn="bl" rotWithShape="0">
              <a:srgbClr val="12294A">
                <a:alpha val="12000"/>
              </a:srgbClr>
            </a:outerShdw>
          </a:effectLst>
        </p:spPr>
      </p:sp>
      <p:pic>
        <p:nvPicPr>
          <p:cNvPr id="11" name="Image 0" descr="หน้าต่างเปลี่ยนรหัสผ่าน"/>
          <p:cNvPicPr>
            <a:picLocks noChangeAspect="1"/>
          </p:cNvPicPr>
          <p:nvPr/>
        </p:nvPicPr>
        <p:blipFill>
          <a:blip r:embed="rId3"/>
          <a:srcRect l="-55" r="-55"/>
          <a:stretch/>
        </p:blipFill>
        <p:spPr>
          <a:xfrm>
            <a:off x="4476750" y="1263600"/>
            <a:ext cx="6997700" cy="4368800"/>
          </a:xfrm>
          <a:prstGeom prst="roundRect">
            <a:avLst>
              <a:gd name="adj" fmla="val 218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4473575" y="1260425"/>
            <a:ext cx="7004050" cy="4375150"/>
          </a:xfrm>
          <a:prstGeom prst="roundRect">
            <a:avLst>
              <a:gd name="adj" fmla="val 225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ก่อนปิดคู่มือ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39130"/>
            <a:ext cx="11301984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6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ข้อควรจำ 6 ข้อ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600" y="1435050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612850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วันที่ปิดงานห้ามล่วงหน้า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907456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วันที่ล้าง ซ่อมเสร็จ ติดตั้ง ต้องไม่เกินวันนี้ · วันนัดตั้งล่วงหน้าได้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35050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612850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รูปต้องครบก่อนบันทึก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5400" y="1907456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ฟอร์มล้าง 9 ช่องต่อเครื่อง · ช่อง 2–5 เลือกพร้อมกันได้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600" y="2468761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" y="2646561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แก้เอกสาร = อนุมัติใหม่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941191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แก้รูปหรือรวมเครื่องที่ 2 เข้าใบเดิม ชื่อผู้อนุมัติขั้น 2–4 จะถูกล้าง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761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375400" y="2646561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· อนุมัติตามลำดับ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5400" y="2941191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 → Supervisor/Regional → Infrastructure ข้ามขั้นไม่ได้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600" y="3502496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" y="3680296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· เขียนมือก็ได้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3974902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ปริ้นฟอร์มเปล่า เขียนหน้างาน แล้วกด "แนบไฟล์" ถ่ายรูปส่งเข้าระบบ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502496"/>
            <a:ext cx="5410200" cy="881327"/>
          </a:xfrm>
          <a:prstGeom prst="roundRect">
            <a:avLst>
              <a:gd name="adj" fmla="val 11528"/>
            </a:avLst>
          </a:prstGeom>
          <a:solidFill>
            <a:srgbClr val="1C3A66"/>
          </a:solidFill>
          <a:ln/>
        </p:spPr>
      </p:sp>
      <p:sp>
        <p:nvSpPr>
          <p:cNvPr id="20" name="Text 18"/>
          <p:cNvSpPr/>
          <p:nvPr/>
        </p:nvSpPr>
        <p:spPr>
          <a:xfrm>
            <a:off x="6375400" y="3680296"/>
            <a:ext cx="515391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· ติดปัญหา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5400" y="3974902"/>
            <a:ext cx="51539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5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ติดต่อ Infrastructure (ผู้ดูแลระบบ) · แจ้งชื่อหน้าและเลขอ้างอิงเอกสาร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คู่มือการใช้งานเว็บแอร์">
  <a:themeElements>
    <a:clrScheme name="คู่มือการใช้งานเว็บแอร์">
      <a:dk1>
        <a:srgbClr val="12294A"/>
      </a:dk1>
      <a:lt1>
        <a:srgbClr val="F5F7FA"/>
      </a:lt1>
      <a:dk2>
        <a:srgbClr val="4B5D76"/>
      </a:dk2>
      <a:lt2>
        <a:srgbClr val="DEE2E8"/>
      </a:lt2>
      <a:accent1>
        <a:srgbClr val="C75300"/>
      </a:accent1>
      <a:accent2>
        <a:srgbClr val="B34700"/>
      </a:accent2>
      <a:accent3>
        <a:srgbClr val="5A3A1A"/>
      </a:accent3>
      <a:accent4>
        <a:srgbClr val="F2A65A"/>
      </a:accent4>
      <a:accent5>
        <a:srgbClr val="1C3A66"/>
      </a:accent5>
      <a:accent6>
        <a:srgbClr val="E8711C"/>
      </a:accent6>
      <a:hlink>
        <a:srgbClr val="0563C1"/>
      </a:hlink>
      <a:folHlink>
        <a:srgbClr val="954F72"/>
      </a:folHlink>
    </a:clrScheme>
    <a:fontScheme name="คู่มือการใช้งานเว็บแอร์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Office PowerPoint</Application>
  <PresentationFormat>Widescreen</PresentationFormat>
  <Paragraphs>146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Tahoma</vt:lpstr>
      <vt:lpstr>คู่มือการใช้งานเว็บแอร์</vt:lpstr>
      <vt:lpstr>คู่มือการใช้งาน ระบบบริหารจัดการเครื่องปรับอากาศ</vt:lpstr>
      <vt:lpstr>เข้าสู่ระบบ</vt:lpstr>
      <vt:lpstr>ล้างแอร์ตามแผน</vt:lpstr>
      <vt:lpstr>ล้างแอร์ 1 รอบ เดินงานแบบนี้</vt:lpstr>
      <vt:lpstr>ดูงานของตัวเอง แล้วเลือกงานที่จะกรอก</vt:lpstr>
      <vt:lpstr>เลือกวิธี เลือกเครื่อง และรอบในแผน</vt:lpstr>
      <vt:lpstr>ผลตรวจ 21 ข้อ และรูปถ่าย 9 ช่องต่อเครื่อง</vt:lpstr>
      <vt:lpstr>สรุปผล แล้วบันทึก — หรือแนบไฟล์แทน</vt:lpstr>
      <vt:lpstr>เอกสาร PDF ที่ระบบสร้างให้</vt:lpstr>
      <vt:lpstr>ค้นหาและเปิดเอกสารทั้งหมด</vt:lpstr>
      <vt:lpstr>④ ผู้รับเหมากรอกใบซ่อม / ใบติดตั้ง</vt:lpstr>
      <vt:lpstr>ใบติดตั้งปิดเคส · เครื่องเก่าอยู่ในคลังแอร์</vt:lpstr>
      <vt:lpstr>เปลี่ยนรหัสผ่านด้วยตัวเอง</vt:lpstr>
      <vt:lpstr>ข้อควรจำ 6 ข้อ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คู่มือการใช้งานเว็บแอร์</dc:title>
  <dc:subject/>
  <dc:creator/>
  <cp:lastModifiedBy>NB-TELECOM1193</cp:lastModifiedBy>
  <cp:revision>3</cp:revision>
  <dcterms:created xsi:type="dcterms:W3CDTF">2026-10-20T05:33:16Z</dcterms:created>
  <dcterms:modified xsi:type="dcterms:W3CDTF">2026-10-20T08:57:40Z</dcterms:modified>
</cp:coreProperties>
</file>