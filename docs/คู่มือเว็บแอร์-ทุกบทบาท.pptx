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9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43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คู่มือนี้ใช้รูปหน้าจอจริงของระบบ ข้อมูลในรูปเป็นข้อมูลทดสอบ เลขวงกลมสีส้มในรูปตรงกับขั้นตอนด้านข้างของแต่ละหน้า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ก่อนเปิดใช้จริงต้องมีบัญชี Staff และ Supervisor หรือ Regional ของแต่ละภูมิภาค ไม่อย่างนั้นเอกสารจะค้างที่ขั้น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ก่อนเปิดใช้จริงต้องมีบัญชี Staff และ Supervisor หรือ Regional ของแต่ละภูมิภาค ไม่อย่างนั้นเอกสารจะค้างที่ขั้น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0972800" cy="40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384234"/>
            <a:ext cx="10769600" cy="466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0972800" cy="40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384234"/>
            <a:ext cx="10769600" cy="466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6.xml"/><Relationship Id="rId21" Type="http://schemas.openxmlformats.org/officeDocument/2006/relationships/slide" Target="slide21.xml"/><Relationship Id="rId34" Type="http://schemas.openxmlformats.org/officeDocument/2006/relationships/slide" Target="slide34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5.xml"/><Relationship Id="rId33" Type="http://schemas.openxmlformats.org/officeDocument/2006/relationships/slide" Target="slide33.xml"/><Relationship Id="rId38" Type="http://schemas.openxmlformats.org/officeDocument/2006/relationships/slide" Target="slide38.xml"/><Relationship Id="rId2" Type="http://schemas.openxmlformats.org/officeDocument/2006/relationships/notesSlide" Target="../notesSlides/notesSlide2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32" Type="http://schemas.openxmlformats.org/officeDocument/2006/relationships/slide" Target="slide32.xml"/><Relationship Id="rId37" Type="http://schemas.openxmlformats.org/officeDocument/2006/relationships/slide" Target="slide37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28" Type="http://schemas.openxmlformats.org/officeDocument/2006/relationships/slide" Target="slide28.xml"/><Relationship Id="rId36" Type="http://schemas.openxmlformats.org/officeDocument/2006/relationships/slide" Target="slide36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31" Type="http://schemas.openxmlformats.org/officeDocument/2006/relationships/slide" Target="slide31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7.xml"/><Relationship Id="rId30" Type="http://schemas.openxmlformats.org/officeDocument/2006/relationships/slide" Target="slide30.xml"/><Relationship Id="rId35" Type="http://schemas.openxmlformats.org/officeDocument/2006/relationships/slide" Target="slide35.xml"/><Relationship Id="rId8" Type="http://schemas.openxmlformats.org/officeDocument/2006/relationships/slide" Target="slide8.xml"/><Relationship Id="rId3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64848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ITEL · AIR CONDITIONING MANAGEMENT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86914"/>
            <a:ext cx="10883392" cy="1427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ระบบบริหารจัดการเครื่องปรับอากาศ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842941"/>
            <a:ext cx="85026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ฉบับภาพ แยกตามบทบาทและเหตุการณ์ — ดูรูป ทำตามเลขสีส้มบนหน้าจอได้เลย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808141"/>
            <a:ext cx="1429808" cy="401307"/>
          </a:xfrm>
          <a:prstGeom prst="roundRect">
            <a:avLst>
              <a:gd name="adj" fmla="val 50000"/>
            </a:avLst>
          </a:prstGeom>
          <a:solidFill>
            <a:srgbClr val="1C3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69608" y="4808141"/>
            <a:ext cx="2559976" cy="401307"/>
          </a:xfrm>
          <a:prstGeom prst="roundRect">
            <a:avLst>
              <a:gd name="adj" fmla="val 50000"/>
            </a:avLst>
          </a:prstGeom>
          <a:solidFill>
            <a:srgbClr val="1C3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· Supervisor · Regional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56584" y="4808141"/>
            <a:ext cx="1027179" cy="401307"/>
          </a:xfrm>
          <a:prstGeom prst="roundRect">
            <a:avLst>
              <a:gd name="adj" fmla="val 50000"/>
            </a:avLst>
          </a:prstGeom>
          <a:solidFill>
            <a:srgbClr val="1C3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0763" y="4808141"/>
            <a:ext cx="1455870" cy="401307"/>
          </a:xfrm>
          <a:prstGeom prst="roundRect">
            <a:avLst>
              <a:gd name="adj" fmla="val 50000"/>
            </a:avLst>
          </a:prstGeom>
          <a:solidFill>
            <a:srgbClr val="1C3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ช่างนอก (ลิงก์)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th-TH" sz="1200" b="1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th-TH" sz="2800" b="1" i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เลือกหัวข้อ — กดชื่อเรื่องเพื่อไปหน้านั้น</a:t>
            </a:r>
            <a:endParaRPr lang="en-US" sz="2800" dirty="0"/>
          </a:p>
        </p:txBody>
      </p:sp>
      <p:sp>
        <p:nvSpPr>
          <p:cNvPr id="7" name="TOC card ก่อนเริ่ม">
            <a:hlinkClick r:id="rId3" action="ppaction://hlinksldjump"/>
            <a:extLst>
              <a:ext uri="{FF2B5EF4-FFF2-40B4-BE49-F238E27FC236}">
                <a16:creationId xmlns:a16="http://schemas.microsoft.com/office/drawing/2014/main" id="{C7FD30EB-5194-A849-A56B-945EAD241AEE}"/>
              </a:ext>
            </a:extLst>
          </p:cNvPr>
          <p:cNvSpPr/>
          <p:nvPr/>
        </p:nvSpPr>
        <p:spPr>
          <a:xfrm>
            <a:off x="609600" y="1270000"/>
            <a:ext cx="3581400" cy="276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OC tag ก่อนเริ่ม">
            <a:hlinkClick r:id="rId3" action="ppaction://hlinksldjump"/>
            <a:extLst>
              <a:ext uri="{FF2B5EF4-FFF2-40B4-BE49-F238E27FC236}">
                <a16:creationId xmlns:a16="http://schemas.microsoft.com/office/drawing/2014/main" id="{5B92D7B8-B522-8629-7FC9-D4EB17AE90BC}"/>
              </a:ext>
            </a:extLst>
          </p:cNvPr>
          <p:cNvSpPr txBox="1"/>
          <p:nvPr/>
        </p:nvSpPr>
        <p:spPr>
          <a:xfrm>
            <a:off x="787400" y="1397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050" b="1">
                <a:solidFill>
                  <a:srgbClr val="D9661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ก่อนเริ่ม	</a:t>
            </a:r>
            <a:r>
              <a:rPr lang="th-TH" sz="1050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 3–5</a:t>
            </a:r>
            <a:endParaRPr lang="en-US" sz="1050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OC title ก่อนเริ่ม">
            <a:hlinkClick r:id="rId3" action="ppaction://hlinksldjump"/>
            <a:extLst>
              <a:ext uri="{FF2B5EF4-FFF2-40B4-BE49-F238E27FC236}">
                <a16:creationId xmlns:a16="http://schemas.microsoft.com/office/drawing/2014/main" id="{C2439627-9D2F-CDDD-80EF-05544699E20F}"/>
              </a:ext>
            </a:extLst>
          </p:cNvPr>
          <p:cNvSpPr txBox="1"/>
          <p:nvPr/>
        </p:nvSpPr>
        <p:spPr>
          <a:xfrm>
            <a:off x="787400" y="160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th-TH" sz="1400" b="1">
                <a:solidFill>
                  <a:srgbClr val="12294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เริ่มใช้งาน</a:t>
            </a:r>
            <a:endParaRPr lang="en-US" sz="1400" b="1">
              <a:solidFill>
                <a:srgbClr val="12294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OC 3">
            <a:hlinkClick r:id="rId3" action="ppaction://hlinksldjump"/>
            <a:extLst>
              <a:ext uri="{FF2B5EF4-FFF2-40B4-BE49-F238E27FC236}">
                <a16:creationId xmlns:a16="http://schemas.microsoft.com/office/drawing/2014/main" id="{1C818339-6AB8-1106-17DD-99A10FC44C25}"/>
              </a:ext>
            </a:extLst>
          </p:cNvPr>
          <p:cNvSpPr txBox="1"/>
          <p:nvPr/>
        </p:nvSpPr>
        <p:spPr>
          <a:xfrm>
            <a:off x="787400" y="19304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ใครใช้อะไร — 5 บทบาท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OC 4">
            <a:hlinkClick r:id="rId4" action="ppaction://hlinksldjump"/>
            <a:extLst>
              <a:ext uri="{FF2B5EF4-FFF2-40B4-BE49-F238E27FC236}">
                <a16:creationId xmlns:a16="http://schemas.microsoft.com/office/drawing/2014/main" id="{01BE8252-C90E-D986-B4F4-9A6B14281322}"/>
              </a:ext>
            </a:extLst>
          </p:cNvPr>
          <p:cNvSpPr txBox="1"/>
          <p:nvPr/>
        </p:nvSpPr>
        <p:spPr>
          <a:xfrm>
            <a:off x="787400" y="21780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เข้าสู่ระบบ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OC 5">
            <a:hlinkClick r:id="rId5" action="ppaction://hlinksldjump"/>
            <a:extLst>
              <a:ext uri="{FF2B5EF4-FFF2-40B4-BE49-F238E27FC236}">
                <a16:creationId xmlns:a16="http://schemas.microsoft.com/office/drawing/2014/main" id="{C20D4E81-E146-E9F7-9837-9E35F3702611}"/>
              </a:ext>
            </a:extLst>
          </p:cNvPr>
          <p:cNvSpPr txBox="1"/>
          <p:nvPr/>
        </p:nvSpPr>
        <p:spPr>
          <a:xfrm>
            <a:off x="787400" y="24257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หน้าจอหลัก (แดชบอร์ด)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OC card ส่วนที่ 1">
            <a:hlinkClick r:id="rId6" action="ppaction://hlinksldjump"/>
            <a:extLst>
              <a:ext uri="{FF2B5EF4-FFF2-40B4-BE49-F238E27FC236}">
                <a16:creationId xmlns:a16="http://schemas.microsoft.com/office/drawing/2014/main" id="{B7B79996-E497-0CFB-281B-4FE587E8592E}"/>
              </a:ext>
            </a:extLst>
          </p:cNvPr>
          <p:cNvSpPr/>
          <p:nvPr/>
        </p:nvSpPr>
        <p:spPr>
          <a:xfrm>
            <a:off x="4305300" y="1270000"/>
            <a:ext cx="3581400" cy="276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OC tag ส่วนที่ 1">
            <a:hlinkClick r:id="rId6" action="ppaction://hlinksldjump"/>
            <a:extLst>
              <a:ext uri="{FF2B5EF4-FFF2-40B4-BE49-F238E27FC236}">
                <a16:creationId xmlns:a16="http://schemas.microsoft.com/office/drawing/2014/main" id="{070FF37F-A0E0-FF94-81E8-2C56F249571C}"/>
              </a:ext>
            </a:extLst>
          </p:cNvPr>
          <p:cNvSpPr txBox="1"/>
          <p:nvPr/>
        </p:nvSpPr>
        <p:spPr>
          <a:xfrm>
            <a:off x="4483100" y="1397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050" b="1">
                <a:solidFill>
                  <a:srgbClr val="D9661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ส่วนที่ 1	</a:t>
            </a:r>
            <a:r>
              <a:rPr lang="th-TH" sz="1050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 6–12</a:t>
            </a:r>
            <a:endParaRPr lang="en-US" sz="1050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OC title ส่วนที่ 1">
            <a:hlinkClick r:id="rId6" action="ppaction://hlinksldjump"/>
            <a:extLst>
              <a:ext uri="{FF2B5EF4-FFF2-40B4-BE49-F238E27FC236}">
                <a16:creationId xmlns:a16="http://schemas.microsoft.com/office/drawing/2014/main" id="{90E87970-4802-4AB2-6D9F-5346B461904D}"/>
              </a:ext>
            </a:extLst>
          </p:cNvPr>
          <p:cNvSpPr txBox="1"/>
          <p:nvPr/>
        </p:nvSpPr>
        <p:spPr>
          <a:xfrm>
            <a:off x="4483100" y="160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th-TH" sz="1400" b="1">
                <a:solidFill>
                  <a:srgbClr val="12294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ทะเบียนเครื่องและแผนล้าง</a:t>
            </a:r>
            <a:endParaRPr lang="en-US" sz="1400" b="1">
              <a:solidFill>
                <a:srgbClr val="12294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OC 7">
            <a:hlinkClick r:id="rId7" action="ppaction://hlinksldjump"/>
            <a:extLst>
              <a:ext uri="{FF2B5EF4-FFF2-40B4-BE49-F238E27FC236}">
                <a16:creationId xmlns:a16="http://schemas.microsoft.com/office/drawing/2014/main" id="{963D9999-468C-48DE-C9FB-BBCF15DFED8F}"/>
              </a:ext>
            </a:extLst>
          </p:cNvPr>
          <p:cNvSpPr txBox="1"/>
          <p:nvPr/>
        </p:nvSpPr>
        <p:spPr>
          <a:xfrm>
            <a:off x="4483100" y="19304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รายการเครื่องปรับอากาศ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7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OC 8">
            <a:hlinkClick r:id="rId8" action="ppaction://hlinksldjump"/>
            <a:extLst>
              <a:ext uri="{FF2B5EF4-FFF2-40B4-BE49-F238E27FC236}">
                <a16:creationId xmlns:a16="http://schemas.microsoft.com/office/drawing/2014/main" id="{CEF71B15-BB79-1821-CFDC-9FCFA54D94DC}"/>
              </a:ext>
            </a:extLst>
          </p:cNvPr>
          <p:cNvSpPr txBox="1"/>
          <p:nvPr/>
        </p:nvSpPr>
        <p:spPr>
          <a:xfrm>
            <a:off x="4483100" y="21780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หาเครื่องตามอายุ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8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OC 9">
            <a:hlinkClick r:id="rId9" action="ppaction://hlinksldjump"/>
            <a:extLst>
              <a:ext uri="{FF2B5EF4-FFF2-40B4-BE49-F238E27FC236}">
                <a16:creationId xmlns:a16="http://schemas.microsoft.com/office/drawing/2014/main" id="{167CD26E-C352-CF90-6200-26DC88D79253}"/>
              </a:ext>
            </a:extLst>
          </p:cNvPr>
          <p:cNvSpPr txBox="1"/>
          <p:nvPr/>
        </p:nvSpPr>
        <p:spPr>
          <a:xfrm>
            <a:off x="4483100" y="24257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รายละเอียดเครื่อง 1 ตัว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9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OC 10">
            <a:hlinkClick r:id="rId10" action="ppaction://hlinksldjump"/>
            <a:extLst>
              <a:ext uri="{FF2B5EF4-FFF2-40B4-BE49-F238E27FC236}">
                <a16:creationId xmlns:a16="http://schemas.microsoft.com/office/drawing/2014/main" id="{518624F3-C8B0-A2A5-43FD-7176BF9CAA4F}"/>
              </a:ext>
            </a:extLst>
          </p:cNvPr>
          <p:cNvSpPr txBox="1"/>
          <p:nvPr/>
        </p:nvSpPr>
        <p:spPr>
          <a:xfrm>
            <a:off x="4483100" y="26733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แผนล้างแอร์ประจำปี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10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OC 11">
            <a:hlinkClick r:id="rId11" action="ppaction://hlinksldjump"/>
            <a:extLst>
              <a:ext uri="{FF2B5EF4-FFF2-40B4-BE49-F238E27FC236}">
                <a16:creationId xmlns:a16="http://schemas.microsoft.com/office/drawing/2014/main" id="{243E16CE-A25A-F5E2-A3BA-31E71AC6DA54}"/>
              </a:ext>
            </a:extLst>
          </p:cNvPr>
          <p:cNvSpPr txBox="1"/>
          <p:nvPr/>
        </p:nvSpPr>
        <p:spPr>
          <a:xfrm>
            <a:off x="4483100" y="2921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ตั้งวันนัดและมอบงาน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11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OC 12">
            <a:hlinkClick r:id="rId12" action="ppaction://hlinksldjump"/>
            <a:extLst>
              <a:ext uri="{FF2B5EF4-FFF2-40B4-BE49-F238E27FC236}">
                <a16:creationId xmlns:a16="http://schemas.microsoft.com/office/drawing/2014/main" id="{B9AF9ED4-CA16-4C87-6D83-9C8B1DD27460}"/>
              </a:ext>
            </a:extLst>
          </p:cNvPr>
          <p:cNvSpPr txBox="1"/>
          <p:nvPr/>
        </p:nvSpPr>
        <p:spPr>
          <a:xfrm>
            <a:off x="4483100" y="31686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ปฏิทินนัดหมาย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12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OC card เหตุการณ์ 1">
            <a:hlinkClick r:id="rId13" action="ppaction://hlinksldjump"/>
            <a:extLst>
              <a:ext uri="{FF2B5EF4-FFF2-40B4-BE49-F238E27FC236}">
                <a16:creationId xmlns:a16="http://schemas.microsoft.com/office/drawing/2014/main" id="{A6DA2E02-70DE-CF99-7695-095B3C0A2C79}"/>
              </a:ext>
            </a:extLst>
          </p:cNvPr>
          <p:cNvSpPr/>
          <p:nvPr/>
        </p:nvSpPr>
        <p:spPr>
          <a:xfrm>
            <a:off x="8001000" y="1270000"/>
            <a:ext cx="3581400" cy="276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OC tag เหตุการณ์ 1">
            <a:hlinkClick r:id="rId13" action="ppaction://hlinksldjump"/>
            <a:extLst>
              <a:ext uri="{FF2B5EF4-FFF2-40B4-BE49-F238E27FC236}">
                <a16:creationId xmlns:a16="http://schemas.microsoft.com/office/drawing/2014/main" id="{EA9A97E8-D4EA-286B-D8E1-F56DA0A9A906}"/>
              </a:ext>
            </a:extLst>
          </p:cNvPr>
          <p:cNvSpPr txBox="1"/>
          <p:nvPr/>
        </p:nvSpPr>
        <p:spPr>
          <a:xfrm>
            <a:off x="8178800" y="1397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050" b="1">
                <a:solidFill>
                  <a:srgbClr val="D9661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เหตุการณ์ 1	</a:t>
            </a:r>
            <a:r>
              <a:rPr lang="th-TH" sz="1050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 13–21</a:t>
            </a:r>
            <a:endParaRPr lang="en-US" sz="1050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OC title เหตุการณ์ 1">
            <a:hlinkClick r:id="rId13" action="ppaction://hlinksldjump"/>
            <a:extLst>
              <a:ext uri="{FF2B5EF4-FFF2-40B4-BE49-F238E27FC236}">
                <a16:creationId xmlns:a16="http://schemas.microsoft.com/office/drawing/2014/main" id="{79893B45-DBD5-DEE1-66A9-512F0CBEF607}"/>
              </a:ext>
            </a:extLst>
          </p:cNvPr>
          <p:cNvSpPr txBox="1"/>
          <p:nvPr/>
        </p:nvSpPr>
        <p:spPr>
          <a:xfrm>
            <a:off x="8178800" y="160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th-TH" sz="1400" b="1">
                <a:solidFill>
                  <a:srgbClr val="12294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ล้างแอร์ตามแผน</a:t>
            </a:r>
            <a:endParaRPr lang="en-US" sz="1400" b="1">
              <a:solidFill>
                <a:srgbClr val="12294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OC 14">
            <a:hlinkClick r:id="rId14" action="ppaction://hlinksldjump"/>
            <a:extLst>
              <a:ext uri="{FF2B5EF4-FFF2-40B4-BE49-F238E27FC236}">
                <a16:creationId xmlns:a16="http://schemas.microsoft.com/office/drawing/2014/main" id="{8EE4D731-2459-A33C-8372-F966E59C468A}"/>
              </a:ext>
            </a:extLst>
          </p:cNvPr>
          <p:cNvSpPr txBox="1"/>
          <p:nvPr/>
        </p:nvSpPr>
        <p:spPr>
          <a:xfrm>
            <a:off x="8178800" y="19304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ภาพรวมขั้นตอน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14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OC 15">
            <a:hlinkClick r:id="rId15" action="ppaction://hlinksldjump"/>
            <a:extLst>
              <a:ext uri="{FF2B5EF4-FFF2-40B4-BE49-F238E27FC236}">
                <a16:creationId xmlns:a16="http://schemas.microsoft.com/office/drawing/2014/main" id="{00CBB18F-E133-5EFC-91CC-BF13EEFF242C}"/>
              </a:ext>
            </a:extLst>
          </p:cNvPr>
          <p:cNvSpPr txBox="1"/>
          <p:nvPr/>
        </p:nvSpPr>
        <p:spPr>
          <a:xfrm>
            <a:off x="8178800" y="21780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ผู้รับเหมาดูงานบนมือถือ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15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OC 16">
            <a:hlinkClick r:id="rId16" action="ppaction://hlinksldjump"/>
            <a:extLst>
              <a:ext uri="{FF2B5EF4-FFF2-40B4-BE49-F238E27FC236}">
                <a16:creationId xmlns:a16="http://schemas.microsoft.com/office/drawing/2014/main" id="{AA7F2F78-BF70-F444-C4A0-43CA674A9C05}"/>
              </a:ext>
            </a:extLst>
          </p:cNvPr>
          <p:cNvSpPr txBox="1"/>
          <p:nvPr/>
        </p:nvSpPr>
        <p:spPr>
          <a:xfrm>
            <a:off x="8178800" y="24257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ฟอร์มล้าง 1 · เลือกเครื่องและรอบ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16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OC 17">
            <a:hlinkClick r:id="rId17" action="ppaction://hlinksldjump"/>
            <a:extLst>
              <a:ext uri="{FF2B5EF4-FFF2-40B4-BE49-F238E27FC236}">
                <a16:creationId xmlns:a16="http://schemas.microsoft.com/office/drawing/2014/main" id="{7C2F2464-E88C-0CB8-B253-1820AB34AECE}"/>
              </a:ext>
            </a:extLst>
          </p:cNvPr>
          <p:cNvSpPr txBox="1"/>
          <p:nvPr/>
        </p:nvSpPr>
        <p:spPr>
          <a:xfrm>
            <a:off x="8178800" y="26733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ฟอร์มล้าง 2 · ผลตรวจและรูป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17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OC 18">
            <a:hlinkClick r:id="rId18" action="ppaction://hlinksldjump"/>
            <a:extLst>
              <a:ext uri="{FF2B5EF4-FFF2-40B4-BE49-F238E27FC236}">
                <a16:creationId xmlns:a16="http://schemas.microsoft.com/office/drawing/2014/main" id="{FD2B2C1B-5955-1348-F9C3-011304E8F814}"/>
              </a:ext>
            </a:extLst>
          </p:cNvPr>
          <p:cNvSpPr txBox="1"/>
          <p:nvPr/>
        </p:nvSpPr>
        <p:spPr>
          <a:xfrm>
            <a:off x="8178800" y="2921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ฟอร์มล้าง 3 · สรุปผลและบันทึก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18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OC 19">
            <a:hlinkClick r:id="rId19" action="ppaction://hlinksldjump"/>
            <a:extLst>
              <a:ext uri="{FF2B5EF4-FFF2-40B4-BE49-F238E27FC236}">
                <a16:creationId xmlns:a16="http://schemas.microsoft.com/office/drawing/2014/main" id="{F221C776-F132-55F4-693D-50BE6AB2AA57}"/>
              </a:ext>
            </a:extLst>
          </p:cNvPr>
          <p:cNvSpPr txBox="1"/>
          <p:nvPr/>
        </p:nvSpPr>
        <p:spPr>
          <a:xfrm>
            <a:off x="8178800" y="31686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อนุมัติเอกสาร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19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OC 20">
            <a:hlinkClick r:id="rId20" action="ppaction://hlinksldjump"/>
            <a:extLst>
              <a:ext uri="{FF2B5EF4-FFF2-40B4-BE49-F238E27FC236}">
                <a16:creationId xmlns:a16="http://schemas.microsoft.com/office/drawing/2014/main" id="{6AE5919A-E302-BF76-C5D0-85B7BFF3C2CF}"/>
              </a:ext>
            </a:extLst>
          </p:cNvPr>
          <p:cNvSpPr txBox="1"/>
          <p:nvPr/>
        </p:nvSpPr>
        <p:spPr>
          <a:xfrm>
            <a:off x="8178800" y="34163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เอกสาร </a:t>
            </a:r>
            <a:r>
              <a:rPr lang="en-US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PDF </a:t>
            </a: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ที่ได้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20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OC 21">
            <a:hlinkClick r:id="rId21" action="ppaction://hlinksldjump"/>
            <a:extLst>
              <a:ext uri="{FF2B5EF4-FFF2-40B4-BE49-F238E27FC236}">
                <a16:creationId xmlns:a16="http://schemas.microsoft.com/office/drawing/2014/main" id="{D5883CD0-C146-6CA2-4EA1-4AF4DA89C375}"/>
              </a:ext>
            </a:extLst>
          </p:cNvPr>
          <p:cNvSpPr txBox="1"/>
          <p:nvPr/>
        </p:nvSpPr>
        <p:spPr>
          <a:xfrm>
            <a:off x="8178800" y="36639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ค้นหาและเปิดเอกสาร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21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OC card เหตุการณ์ 2">
            <a:hlinkClick r:id="rId22" action="ppaction://hlinksldjump"/>
            <a:extLst>
              <a:ext uri="{FF2B5EF4-FFF2-40B4-BE49-F238E27FC236}">
                <a16:creationId xmlns:a16="http://schemas.microsoft.com/office/drawing/2014/main" id="{401D347C-C548-69BF-74AF-9D011FA4FA1D}"/>
              </a:ext>
            </a:extLst>
          </p:cNvPr>
          <p:cNvSpPr/>
          <p:nvPr/>
        </p:nvSpPr>
        <p:spPr>
          <a:xfrm>
            <a:off x="609600" y="4191000"/>
            <a:ext cx="3581400" cy="2273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OC tag เหตุการณ์ 2">
            <a:hlinkClick r:id="rId22" action="ppaction://hlinksldjump"/>
            <a:extLst>
              <a:ext uri="{FF2B5EF4-FFF2-40B4-BE49-F238E27FC236}">
                <a16:creationId xmlns:a16="http://schemas.microsoft.com/office/drawing/2014/main" id="{768526B5-E801-770C-37CC-CA67651165B7}"/>
              </a:ext>
            </a:extLst>
          </p:cNvPr>
          <p:cNvSpPr txBox="1"/>
          <p:nvPr/>
        </p:nvSpPr>
        <p:spPr>
          <a:xfrm>
            <a:off x="787400" y="4318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050" b="1">
                <a:solidFill>
                  <a:srgbClr val="D9661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เหตุการณ์ 2	</a:t>
            </a:r>
            <a:r>
              <a:rPr lang="th-TH" sz="1050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 22–28</a:t>
            </a:r>
            <a:endParaRPr lang="en-US" sz="1050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OC title เหตุการณ์ 2">
            <a:hlinkClick r:id="rId22" action="ppaction://hlinksldjump"/>
            <a:extLst>
              <a:ext uri="{FF2B5EF4-FFF2-40B4-BE49-F238E27FC236}">
                <a16:creationId xmlns:a16="http://schemas.microsoft.com/office/drawing/2014/main" id="{60C287BE-B081-5424-CE55-61F0C25EB683}"/>
              </a:ext>
            </a:extLst>
          </p:cNvPr>
          <p:cNvSpPr txBox="1"/>
          <p:nvPr/>
        </p:nvSpPr>
        <p:spPr>
          <a:xfrm>
            <a:off x="787400" y="4521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th-TH" sz="1400" b="1">
                <a:solidFill>
                  <a:srgbClr val="12294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แอร์เสีย แจ้งซ่อมจนปิดงาน</a:t>
            </a:r>
            <a:endParaRPr lang="en-US" sz="1400" b="1">
              <a:solidFill>
                <a:srgbClr val="12294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OC 23">
            <a:hlinkClick r:id="rId23" action="ppaction://hlinksldjump"/>
            <a:extLst>
              <a:ext uri="{FF2B5EF4-FFF2-40B4-BE49-F238E27FC236}">
                <a16:creationId xmlns:a16="http://schemas.microsoft.com/office/drawing/2014/main" id="{A859C2D7-A703-61EC-EC78-9F4CD6D04661}"/>
              </a:ext>
            </a:extLst>
          </p:cNvPr>
          <p:cNvSpPr txBox="1"/>
          <p:nvPr/>
        </p:nvSpPr>
        <p:spPr>
          <a:xfrm>
            <a:off x="787400" y="48514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ภาพรวมขั้นตอน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23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OC 24">
            <a:hlinkClick r:id="rId24" action="ppaction://hlinksldjump"/>
            <a:extLst>
              <a:ext uri="{FF2B5EF4-FFF2-40B4-BE49-F238E27FC236}">
                <a16:creationId xmlns:a16="http://schemas.microsoft.com/office/drawing/2014/main" id="{DB44106D-F079-5FB0-8ADC-BEA16FCA2999}"/>
              </a:ext>
            </a:extLst>
          </p:cNvPr>
          <p:cNvSpPr txBox="1"/>
          <p:nvPr/>
        </p:nvSpPr>
        <p:spPr>
          <a:xfrm>
            <a:off x="787400" y="50990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แจ้งซ่อม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24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OC 25">
            <a:hlinkClick r:id="rId25" action="ppaction://hlinksldjump"/>
            <a:extLst>
              <a:ext uri="{FF2B5EF4-FFF2-40B4-BE49-F238E27FC236}">
                <a16:creationId xmlns:a16="http://schemas.microsoft.com/office/drawing/2014/main" id="{EBB77DC0-957B-B695-0C53-43F56E0FE190}"/>
              </a:ext>
            </a:extLst>
          </p:cNvPr>
          <p:cNvSpPr txBox="1"/>
          <p:nvPr/>
        </p:nvSpPr>
        <p:spPr>
          <a:xfrm>
            <a:off x="787400" y="53467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จัดการเคสที่ยังไม่ปิด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25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TOC 26">
            <a:hlinkClick r:id="rId26" action="ppaction://hlinksldjump"/>
            <a:extLst>
              <a:ext uri="{FF2B5EF4-FFF2-40B4-BE49-F238E27FC236}">
                <a16:creationId xmlns:a16="http://schemas.microsoft.com/office/drawing/2014/main" id="{26124188-0F2F-E09E-CABB-F264AA7E37E2}"/>
              </a:ext>
            </a:extLst>
          </p:cNvPr>
          <p:cNvSpPr txBox="1"/>
          <p:nvPr/>
        </p:nvSpPr>
        <p:spPr>
          <a:xfrm>
            <a:off x="787400" y="55943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มอบหมาย / ส่งลิงก์ให้ช่าง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26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OC 27">
            <a:hlinkClick r:id="rId27" action="ppaction://hlinksldjump"/>
            <a:extLst>
              <a:ext uri="{FF2B5EF4-FFF2-40B4-BE49-F238E27FC236}">
                <a16:creationId xmlns:a16="http://schemas.microsoft.com/office/drawing/2014/main" id="{0F88B605-B8D4-AE47-BDA2-052B315290AB}"/>
              </a:ext>
            </a:extLst>
          </p:cNvPr>
          <p:cNvSpPr txBox="1"/>
          <p:nvPr/>
        </p:nvSpPr>
        <p:spPr>
          <a:xfrm>
            <a:off x="787400" y="5842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ผู้รับเหมากรอกใบซ่อม / ติดตั้ง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27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OC 28">
            <a:hlinkClick r:id="rId28" action="ppaction://hlinksldjump"/>
            <a:extLst>
              <a:ext uri="{FF2B5EF4-FFF2-40B4-BE49-F238E27FC236}">
                <a16:creationId xmlns:a16="http://schemas.microsoft.com/office/drawing/2014/main" id="{A1257A3B-D6B8-BED2-D811-38107391AC3D}"/>
              </a:ext>
            </a:extLst>
          </p:cNvPr>
          <p:cNvSpPr txBox="1"/>
          <p:nvPr/>
        </p:nvSpPr>
        <p:spPr>
          <a:xfrm>
            <a:off x="787400" y="60896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ช่างนอกกรอกผ่านลิงก์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28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OC card เหตุการณ์ 3">
            <a:hlinkClick r:id="rId29" action="ppaction://hlinksldjump"/>
            <a:extLst>
              <a:ext uri="{FF2B5EF4-FFF2-40B4-BE49-F238E27FC236}">
                <a16:creationId xmlns:a16="http://schemas.microsoft.com/office/drawing/2014/main" id="{13EB7178-4D19-2885-3A92-73416747479B}"/>
              </a:ext>
            </a:extLst>
          </p:cNvPr>
          <p:cNvSpPr/>
          <p:nvPr/>
        </p:nvSpPr>
        <p:spPr>
          <a:xfrm>
            <a:off x="4305300" y="4191000"/>
            <a:ext cx="3581400" cy="2273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OC tag เหตุการณ์ 3">
            <a:hlinkClick r:id="rId29" action="ppaction://hlinksldjump"/>
            <a:extLst>
              <a:ext uri="{FF2B5EF4-FFF2-40B4-BE49-F238E27FC236}">
                <a16:creationId xmlns:a16="http://schemas.microsoft.com/office/drawing/2014/main" id="{59222F92-BD41-A674-7428-BD8D9EFD38F4}"/>
              </a:ext>
            </a:extLst>
          </p:cNvPr>
          <p:cNvSpPr txBox="1"/>
          <p:nvPr/>
        </p:nvSpPr>
        <p:spPr>
          <a:xfrm>
            <a:off x="4483100" y="4318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050" b="1">
                <a:solidFill>
                  <a:srgbClr val="D9661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เหตุการณ์ 3	</a:t>
            </a:r>
            <a:r>
              <a:rPr lang="th-TH" sz="1050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 29–31</a:t>
            </a:r>
            <a:endParaRPr lang="en-US" sz="1050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OC title เหตุการณ์ 3">
            <a:hlinkClick r:id="rId29" action="ppaction://hlinksldjump"/>
            <a:extLst>
              <a:ext uri="{FF2B5EF4-FFF2-40B4-BE49-F238E27FC236}">
                <a16:creationId xmlns:a16="http://schemas.microsoft.com/office/drawing/2014/main" id="{136E84D7-82DF-24CB-C8F1-283BED92B59D}"/>
              </a:ext>
            </a:extLst>
          </p:cNvPr>
          <p:cNvSpPr txBox="1"/>
          <p:nvPr/>
        </p:nvSpPr>
        <p:spPr>
          <a:xfrm>
            <a:off x="4483100" y="4521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th-TH" sz="1400" b="1">
                <a:solidFill>
                  <a:srgbClr val="12294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ซ่อมไม่ได้ เปลี่ยนเครื่องใหม่</a:t>
            </a:r>
            <a:endParaRPr lang="en-US" sz="1400" b="1">
              <a:solidFill>
                <a:srgbClr val="12294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OC 30">
            <a:hlinkClick r:id="rId30" action="ppaction://hlinksldjump"/>
            <a:extLst>
              <a:ext uri="{FF2B5EF4-FFF2-40B4-BE49-F238E27FC236}">
                <a16:creationId xmlns:a16="http://schemas.microsoft.com/office/drawing/2014/main" id="{1E03969F-D005-C33B-0F2A-C3D0758B1D78}"/>
              </a:ext>
            </a:extLst>
          </p:cNvPr>
          <p:cNvSpPr txBox="1"/>
          <p:nvPr/>
        </p:nvSpPr>
        <p:spPr>
          <a:xfrm>
            <a:off x="4483100" y="48514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ปิดแบบซ่อมไม่ได้ แล้วเปลี่ยนเครื่อง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30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OC 31">
            <a:hlinkClick r:id="rId31" action="ppaction://hlinksldjump"/>
            <a:extLst>
              <a:ext uri="{FF2B5EF4-FFF2-40B4-BE49-F238E27FC236}">
                <a16:creationId xmlns:a16="http://schemas.microsoft.com/office/drawing/2014/main" id="{C6980367-E7EF-FC9B-65D0-378456A0F5F4}"/>
              </a:ext>
            </a:extLst>
          </p:cNvPr>
          <p:cNvSpPr txBox="1"/>
          <p:nvPr/>
        </p:nvSpPr>
        <p:spPr>
          <a:xfrm>
            <a:off x="4483100" y="50990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ใบติดตั้งปิดเคส · คลังแอร์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31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OC card ส่วนสุดท้าย">
            <a:hlinkClick r:id="rId32" action="ppaction://hlinksldjump"/>
            <a:extLst>
              <a:ext uri="{FF2B5EF4-FFF2-40B4-BE49-F238E27FC236}">
                <a16:creationId xmlns:a16="http://schemas.microsoft.com/office/drawing/2014/main" id="{4CA23A7A-32B6-A230-82B5-5055A3A22AFC}"/>
              </a:ext>
            </a:extLst>
          </p:cNvPr>
          <p:cNvSpPr/>
          <p:nvPr/>
        </p:nvSpPr>
        <p:spPr>
          <a:xfrm>
            <a:off x="8001000" y="4191000"/>
            <a:ext cx="3581400" cy="2273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OC tag ส่วนสุดท้าย">
            <a:hlinkClick r:id="rId32" action="ppaction://hlinksldjump"/>
            <a:extLst>
              <a:ext uri="{FF2B5EF4-FFF2-40B4-BE49-F238E27FC236}">
                <a16:creationId xmlns:a16="http://schemas.microsoft.com/office/drawing/2014/main" id="{9EBA7DF7-291E-B8D4-34FF-B99F49946951}"/>
              </a:ext>
            </a:extLst>
          </p:cNvPr>
          <p:cNvSpPr txBox="1"/>
          <p:nvPr/>
        </p:nvSpPr>
        <p:spPr>
          <a:xfrm>
            <a:off x="8178800" y="4318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050" b="1">
                <a:solidFill>
                  <a:srgbClr val="D9661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ส่วนสุดท้าย	</a:t>
            </a:r>
            <a:r>
              <a:rPr lang="th-TH" sz="1050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หน้า 32–38</a:t>
            </a:r>
            <a:endParaRPr lang="en-US" sz="1050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OC title ส่วนสุดท้าย">
            <a:hlinkClick r:id="rId32" action="ppaction://hlinksldjump"/>
            <a:extLst>
              <a:ext uri="{FF2B5EF4-FFF2-40B4-BE49-F238E27FC236}">
                <a16:creationId xmlns:a16="http://schemas.microsoft.com/office/drawing/2014/main" id="{4ED02597-8422-BBBE-F1F3-246DB1667925}"/>
              </a:ext>
            </a:extLst>
          </p:cNvPr>
          <p:cNvSpPr txBox="1"/>
          <p:nvPr/>
        </p:nvSpPr>
        <p:spPr>
          <a:xfrm>
            <a:off x="8178800" y="4521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th-TH" sz="1400" b="1">
                <a:solidFill>
                  <a:srgbClr val="12294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งบ ผู้ใช้ และเรื่องควรรู้</a:t>
            </a:r>
            <a:endParaRPr lang="en-US" sz="1400" b="1">
              <a:solidFill>
                <a:srgbClr val="12294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OC 33">
            <a:hlinkClick r:id="rId33" action="ppaction://hlinksldjump"/>
            <a:extLst>
              <a:ext uri="{FF2B5EF4-FFF2-40B4-BE49-F238E27FC236}">
                <a16:creationId xmlns:a16="http://schemas.microsoft.com/office/drawing/2014/main" id="{667A53DB-36D4-B0A6-41CA-89B4208A66EB}"/>
              </a:ext>
            </a:extLst>
          </p:cNvPr>
          <p:cNvSpPr txBox="1"/>
          <p:nvPr/>
        </p:nvSpPr>
        <p:spPr>
          <a:xfrm>
            <a:off x="8178800" y="48514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งบประมาณ 4 หมวด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33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OC 34">
            <a:hlinkClick r:id="rId34" action="ppaction://hlinksldjump"/>
            <a:extLst>
              <a:ext uri="{FF2B5EF4-FFF2-40B4-BE49-F238E27FC236}">
                <a16:creationId xmlns:a16="http://schemas.microsoft.com/office/drawing/2014/main" id="{15EAF3E5-6BEE-BA10-2E2E-BF9C370E3B90}"/>
              </a:ext>
            </a:extLst>
          </p:cNvPr>
          <p:cNvSpPr txBox="1"/>
          <p:nvPr/>
        </p:nvSpPr>
        <p:spPr>
          <a:xfrm>
            <a:off x="8178800" y="50990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แผนเปลี่ยนเครื่อง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34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OC 35">
            <a:hlinkClick r:id="rId35" action="ppaction://hlinksldjump"/>
            <a:extLst>
              <a:ext uri="{FF2B5EF4-FFF2-40B4-BE49-F238E27FC236}">
                <a16:creationId xmlns:a16="http://schemas.microsoft.com/office/drawing/2014/main" id="{A572DC2C-CB06-9241-99DB-76B07ED4EE29}"/>
              </a:ext>
            </a:extLst>
          </p:cNvPr>
          <p:cNvSpPr txBox="1"/>
          <p:nvPr/>
        </p:nvSpPr>
        <p:spPr>
          <a:xfrm>
            <a:off x="8178800" y="53467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เพิ่มผู้ใช้และกำหนดสิทธิ์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35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OC 36">
            <a:hlinkClick r:id="rId36" action="ppaction://hlinksldjump"/>
            <a:extLst>
              <a:ext uri="{FF2B5EF4-FFF2-40B4-BE49-F238E27FC236}">
                <a16:creationId xmlns:a16="http://schemas.microsoft.com/office/drawing/2014/main" id="{E147C84E-67C9-99E6-478D-F6F456089822}"/>
              </a:ext>
            </a:extLst>
          </p:cNvPr>
          <p:cNvSpPr txBox="1"/>
          <p:nvPr/>
        </p:nvSpPr>
        <p:spPr>
          <a:xfrm>
            <a:off x="8178800" y="55943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ประวัติการทำงานทั้งหมด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36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OC 37">
            <a:hlinkClick r:id="rId37" action="ppaction://hlinksldjump"/>
            <a:extLst>
              <a:ext uri="{FF2B5EF4-FFF2-40B4-BE49-F238E27FC236}">
                <a16:creationId xmlns:a16="http://schemas.microsoft.com/office/drawing/2014/main" id="{F909D5C2-B2B1-676F-BF8D-B5B0B9CDF378}"/>
              </a:ext>
            </a:extLst>
          </p:cNvPr>
          <p:cNvSpPr txBox="1"/>
          <p:nvPr/>
        </p:nvSpPr>
        <p:spPr>
          <a:xfrm>
            <a:off x="8178800" y="58420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เปลี่ยนรหัสผ่าน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37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TOC 38">
            <a:hlinkClick r:id="rId38" action="ppaction://hlinksldjump"/>
            <a:extLst>
              <a:ext uri="{FF2B5EF4-FFF2-40B4-BE49-F238E27FC236}">
                <a16:creationId xmlns:a16="http://schemas.microsoft.com/office/drawing/2014/main" id="{7F4A9E4B-B999-97E3-D4B6-CE3D52D3688A}"/>
              </a:ext>
            </a:extLst>
          </p:cNvPr>
          <p:cNvSpPr txBox="1"/>
          <p:nvPr/>
        </p:nvSpPr>
        <p:spPr>
          <a:xfrm>
            <a:off x="8178800" y="608965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>
              <a:tabLst>
                <a:tab pos="3225800" algn="r"/>
              </a:tabLst>
            </a:pPr>
            <a:r>
              <a:rPr lang="th-TH" sz="1200">
                <a:solidFill>
                  <a:srgbClr val="334155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ข้อควรจำ 6 ข้อ	</a:t>
            </a:r>
            <a:r>
              <a:rPr lang="th-TH" sz="1200" b="1">
                <a:solidFill>
                  <a:srgbClr val="64748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38</a:t>
            </a:r>
            <a:endParaRPr lang="en-US" sz="1200" b="1">
              <a:solidFill>
                <a:srgbClr val="64748B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32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ก่อนเริ่ม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ใครใช้อะไร — 5 บทบาทในระบบ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66498"/>
              </p:ext>
            </p:extLst>
          </p:nvPr>
        </p:nvGraphicFramePr>
        <p:xfrm>
          <a:off x="622300" y="1295334"/>
          <a:ext cx="10960100" cy="2618052"/>
        </p:xfrm>
        <a:graphic>
          <a:graphicData uri="http://schemas.openxmlformats.org/drawingml/2006/table">
            <a:tbl>
              <a:tblPr/>
              <a:tblGrid>
                <a:gridCol w="241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0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6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บทบาท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6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เห็นเมนู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6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หน้าที่หลัก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Infrastructure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ครบทุกเมนู · ทุก Region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ดูแลทะเบียนเครื่อง แผน งบ ผู้ใช้ · อนุมัติซ่อม · อนุมัติเอกสารขั้น 4 </a:t>
                      </a:r>
                      <a:endParaRPr lang="th-TH" sz="1300" dirty="0">
                        <a:solidFill>
                          <a:srgbClr val="1B2433"/>
                        </a:solidFill>
                        <a:latin typeface="Tahoma" pitchFamily="34" charset="0"/>
                        <a:ea typeface="Tahoma" pitchFamily="34" charset="-122"/>
                        <a:cs typeface="Tahoma" pitchFamily="34" charset="-120"/>
                      </a:endParaRPr>
                    </a:p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(ขั้นสุดท้าย)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 เมนู · เฉพาะ Region ตัวเอง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อนุมัติเอกสารขั้น 2 (ผู้ควบคุมงาน) · แจ้งซ่อม ดูแผน ดูประวัติ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Supervisor / Regional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 เมนู · เฉพาะ Region ตัวเอง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อนุมัติเอกสารขั้น 3 (ผู้ตรวจสอบ)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ผู้รับเหมา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 เมนู: ตารางงาน · แผนล้างแอร์ · แบบฟอร์มเอกสาร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กรอกฟอร์มล้าง ซ่อม ติดตั้ง </a:t>
                      </a:r>
                      <a:r>
                        <a:rPr lang="en-US" sz="1300" dirty="0" err="1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เฉพาะงานที่ได้รับมอบหมาย</a:t>
                      </a: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 </a:t>
                      </a:r>
                      <a:endParaRPr lang="th-TH" sz="1300" dirty="0">
                        <a:solidFill>
                          <a:srgbClr val="1B2433"/>
                        </a:solidFill>
                        <a:latin typeface="Tahoma" pitchFamily="34" charset="0"/>
                        <a:ea typeface="Tahoma" pitchFamily="34" charset="-122"/>
                        <a:cs typeface="Tahoma" pitchFamily="34" charset="-120"/>
                      </a:endParaRPr>
                    </a:p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(ขั้น 1 ลงชื่อให้อัตโนมัติ)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ช่างนอก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ไม่ต้องล็อกอิน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เปิดลิงก์ที่เจ้าหน้าที่ส่งให้ แล้วกรอกใบซ่อม/ใบติดตั้งของเครื่องนั้น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600" y="4116586"/>
            <a:ext cx="10972800" cy="690827"/>
          </a:xfrm>
          <a:prstGeom prst="roundRect">
            <a:avLst>
              <a:gd name="adj" fmla="val 11030"/>
            </a:avLst>
          </a:prstGeom>
          <a:solidFill>
            <a:srgbClr val="FFF3E6"/>
          </a:solidFill>
          <a:ln/>
        </p:spPr>
        <p:txBody>
          <a:bodyPr wrap="square" lIns="168182" tIns="91982" rIns="0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เอกสารทุกใบอนุมัติตามลำดับ </a:t>
            </a:r>
            <a:r>
              <a:rPr lang="en-US" sz="13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→ Supervisor/Regional → Infrastructure</a:t>
            </a:r>
            <a:r>
              <a:rPr lang="en-US" sz="13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ข้ามขั้นไม่ได้ · Staff / Supervisor / Regional แก้อะไรได้บ้างขึ้นกับสิทธิ์รายเมนูที่ Infrastructure ตั้งให้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9600" y="4116586"/>
            <a:ext cx="10972800" cy="690827"/>
          </a:xfrm>
          <a:custGeom>
            <a:avLst/>
            <a:gdLst/>
            <a:ahLst/>
            <a:cxnLst/>
            <a:rect l="l" t="t" r="r" b="b"/>
            <a:pathLst>
              <a:path w="10972800" h="690827">
                <a:moveTo>
                  <a:pt x="76200" y="690827"/>
                </a:moveTo>
                <a:lnTo>
                  <a:pt x="76200" y="690827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614627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Username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ที่ได้รับจากผู้ดูแลระบบ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Password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44635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ระบบพาไปหน้าแรกของบทบาทนั้นเอง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ลืมรหัสผ่าน: ติดต่อ Infrastructure ให้ตั้งรหัสใหม่ในหน้าจัดการผู้ใช้ · เปิดบนมือถือได้ ใช้ที่อยู่เว็บเดียวกัน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62116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70400" y="1257235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หน้าเข้าสู่ระบบ มีช่อง Username Password และปุ่มเข้าสู่ระบบ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5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4473575" y="1260410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Staff · Supervisor · Regional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หน้าจอหลัก (แดชบอร์ด)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5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เมนูด้านซ้าย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เห็นเฉพาะเมนูที่บทบาทมีสิทธิ์ ตัวเลขแดง = งานที่รออยู่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เลือกปี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ที่ต้องการดูสรุป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การ์ดสรุป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กดการ์ดเพื่อไปหน้ารายละเอียด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6211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นัดหมาย 30 วัน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และปุ่มดูปฏิทินทั้งเดือน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0148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599" y="3014861"/>
            <a:ext cx="269853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เปลี่ยนรหัสผ่าน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และปุ่มออกจากระบบ (มุมล่างซ้าย)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70400" y="1257235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แดชบอร์ด มีเมนูซ้าย การ์ดสรุป กราฟ และนัดหมาย 30 วัน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5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4473575" y="1260410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209808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Infrastructure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585709"/>
            <a:ext cx="10883392" cy="131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ดูแลทะเบียนเครื่อง</a:t>
            </a:r>
            <a:endParaRPr lang="en-US" sz="4400" dirty="0"/>
          </a:p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และแผนล้างแอร์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799" y="4074120"/>
            <a:ext cx="103413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รายการเครื่อง · กรองอายุ · รายละเอียดเครื่อง · แผนล้างแอร์ · ตั้งวันนัดและผู้รับเหมา · ปฏิทินนัดหมาย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เมนู รายการเครื่อง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รายการเครื่องปรับอากาศ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รหัสเครื่อง ชื่อ Node หรือยี่ห้อ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38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38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กรองอายุ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แบบ Excel (หน้าถัดไป)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19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19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Region · สถานะ · การเรียง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400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400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ติดตั้งเครื่องใหม่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เพิ่มเครื่องตำแหน่งใหม่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2781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781235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 Excel/CSV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(ดาวน์โหลดได้ที่ปุ่มข้าง ๆ)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345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0600" y="3345061"/>
            <a:ext cx="32702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รหัสเครื่อง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เพื่อดูรายละเอียด · ไอคอนท้ายแถว = ประวัติ / แก้ไข / เมนูย้ายหรือเปลี่ยนเครื่อง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70400" y="1257235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หน้ารายการเครื่อง มีช่องค้นหา ตัวกรอง และตารางเครื่อง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5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4473575" y="1260410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รายการเครื่อง และ แผนเปลี่ยนเครื่อง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หาเครื่องตามอายุ เช่น "10 ปีขึ้นไปมีตัวไหนบ้าง"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5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อายุ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แล้วติ๊กอายุที่ต้องการ เลือกได้หลายค่า · ตัวเลขด้านขวา = จำนวนเครื่อง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ตกลง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ตารางเหลือเฉพาะเครื่องอายุที่เลือก ปุ่มขึ้นจำนวนค่าที่เลือกไว้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10290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ยกเลิกตัวกรอง: เปิดอีกครั้ง ติ๊ก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(เลือกทั้งหมด)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200" dirty="0">
              <a:solidFill>
                <a:srgbClr val="5A3A1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แล้วกดตกลง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ใช้แบบเดียวกันในหน้าแผนเปลี่ยนเครื่อง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410290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70400" y="1257235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ดรอปดาวกรองอายุ ติ๊กอายุ 10 ถึง 13 ปี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5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4473575" y="1260410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กดรหัสเครื่องในรายการ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รายละเอียดเครื่อง 1 ตัว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แจ้งซ่อม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เครื่องนี้ได้จากหน้านี้เลย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บันทึกประวัติ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เหตุการณ์อื่นที่ไม่มีเอกสาร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446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แก้ไขข้อมูล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ยี่ห้อ BTU Serial ที่ตั้ง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4383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438335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เลขอ้างอิง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ในประวัติ — กดแล้วไปที่เอกสารใบนั้น · ลูกศรซ้ายพับ/กางเคสเดียวกัน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014861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การ์ดสีด้านล่างสรุปจำนวนครั้งที่ล้าง ซ่อม ค่าใช้จ่าย และวันล้างล่าสุดของเครื่องนี้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01486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70400" y="1257235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หน้ารายละเอียดเครื่อง NWT-SKL-AIR-1 พร้อมปุ่มแจ้งซ่อม บันทึกประวัติ แก้ไขข้อมูล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5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4473575" y="1260410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เมนู แผนล้างแอร์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แผนล้างแอร์ประจำปี (ปีละ 3 รอบ)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เลือกปี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ของแผน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38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38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กรองเดือนนัด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ดูเฉพาะงานเดือนนั้น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19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19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สร้างแผน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ปีใหม่จากรายการเครื่อง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400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4002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ตั้งวันราย Node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ตั้งวันนัดทุกเครื่องใน Node ทีเดียว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2964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964061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ช่องรอบ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ของเครื่อง เพื่อตั้งนัด เลือกผู้รับเหมา หรือปิดงาน (หน้าถัดไป)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527890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ป้ายแดง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เลยกำหนด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และป้ายส้ม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ใกล้ถึงกำหนด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(ภายใน 30 วัน) ขึ้นที่ช่องรอบเอง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" y="3527890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หน้าแผนล้างแอร์ มีสรุปความคืบหน้าและตารางรอบ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กดช่องรอบในแผนล้างแอร์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ตั้งวันนัดและมอบงานล้างให้ผู้รับเหมา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วันที่ตามแผน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วันนัดล้าง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38"/>
            <a:ext cx="3479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ใส่วันแล้วเป็น "นัดหมายแล้ว" ให้เอง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446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พิมพ์ชื่อค้นหา เลือกแล้วงานนี้ขึ้นในตารางงานของผู้รับเหมาทันที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6211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014861"/>
            <a:ext cx="3556000" cy="843161"/>
          </a:xfrm>
          <a:prstGeom prst="roundRect">
            <a:avLst>
              <a:gd name="adj" fmla="val 9037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ล้างเสร็จแล้ว: กด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กรอกฟอร์ม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หรือ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แนบเอกสาร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ในหน้าต่างเดียวกันเพื่อปิดงาน ระบบลงวันที่ ราคา สถานะ และประวัติให้ครบ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014861"/>
            <a:ext cx="3556000" cy="843161"/>
          </a:xfrm>
          <a:custGeom>
            <a:avLst/>
            <a:gdLst/>
            <a:ahLst/>
            <a:cxnLst/>
            <a:rect l="l" t="t" r="r" b="b"/>
            <a:pathLst>
              <a:path w="3556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หน้าต่างตั้งแผนรอบที่ 3 มีวันที่ สถานะ ผู้รับเหมา และปุ่มบันทึก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 · แดชบอร์ด → ดูปฏิทินทั้งเดือน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ปฏิทินนัดหมายล้างแอร์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จำนวนรอบที่เลยกำหนด และรอบที่ต้องล้างภายใน 30 วัน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2702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ความหมายของสีจุด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น้ำเงิน ยังไม่ล้าง · ส้ม ใกล้ถึง · แดง เลยกำหนด · เขียว ล้างแล้ว · </a:t>
            </a:r>
            <a:endParaRPr lang="th-TH" sz="1300" dirty="0">
              <a:solidFill>
                <a:srgbClr val="1B2433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 err="1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เทา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ยกเลิก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641402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กดวันที่เพื่อดูรายการเครื่องของวันนั้น · ลูกศรซ้ายขวาเปลี่ยนเดือน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641402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ปฏิทินนัดหมายล้างแอร์ เดือนตุลาคม 2026 พร้อมแถบประกาศ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2590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1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078429"/>
            <a:ext cx="10883392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ล้างแอร์ตามแผน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3924238"/>
            <a:ext cx="91567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ตั้งนัด → ผู้รับเหมากรอกฟอร์มบนมือถือ → อนุมัติ 3 ขั้น → ได้เอกสาร PDF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1 · ภาพรวม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ล้างแอร์ 1 รอบ เดินงานแบบนี้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336613"/>
            <a:ext cx="1802077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1633" y="1515467"/>
            <a:ext cx="16200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53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1633" y="1804988"/>
            <a:ext cx="149516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ตั้งนัด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1633" y="2140217"/>
            <a:ext cx="14951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ใส่วันนัดและผู้รับเหมาในแผนล้างแอร์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19627" y="2058925"/>
            <a:ext cx="2794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03802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82660" y="1515467"/>
            <a:ext cx="149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ขั้น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82660" y="180498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กรอกฟอร์ม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082660" y="2140217"/>
            <a:ext cx="149522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 21 ข้อ + รูป 9 ช่อง/เครื่อง หรือแนบไฟล์เขียนมือ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0720" y="2058925"/>
            <a:ext cx="2794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94895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373754" y="1515467"/>
            <a:ext cx="149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· ขั้น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73754" y="180498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อนุมัติ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373754" y="214021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ผู้ควบคุมงาน ตรวจเอกสารแล้วกดอนุมัติ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1814" y="2058925"/>
            <a:ext cx="2794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85989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664847" y="151546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 · ขั้น 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64847" y="201830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อนุมัติ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664847" y="235353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 Regional ผู้ตรวจสอบ กดอนุมัติ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92907" y="2058925"/>
            <a:ext cx="279400" cy="1778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777082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9955940" y="1515467"/>
            <a:ext cx="149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53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 · ขั้น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955940" y="180498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⑤ อนุมัติ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955940" y="214021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ขั้นสุดท้าย เอกสารสมบูรณ์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09600" y="3216213"/>
            <a:ext cx="10972800" cy="939800"/>
          </a:xfrm>
          <a:prstGeom prst="roundRect">
            <a:avLst>
              <a:gd name="adj" fmla="val 10811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600" y="3508313"/>
            <a:ext cx="355600" cy="355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419413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ผลที่ได้:</a:t>
            </a:r>
            <a:r>
              <a:rPr lang="en-US" sz="15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PDF ฉบับสมบูรณ์ (ชื่อผู้อนุมัติลงในช่องลงนามเอง) · รอบในแผนเปลี่ยนเป็น "ล้างเสร็จสิ้น" · ค่าล้างเข้างบประมาณ · ลงประวัติเครื่อง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09600" y="4410013"/>
            <a:ext cx="113019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ระหว่างรออนุมัติ PDF มีลายน้ำ "รออนุมัติ" · ถ้าแก้รูปหรือเนื้อหาเอกสาร ต้องอนุมัติใหม่ตั้งแต่ขั้น 2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บนมือถือ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ดูงานของตัวเอง แล้วเลือกงานที่จะกรอก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แถบเตือน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งานที่เลยกำหนด และงานที่ต้องทำภายใน 30 วัน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งานล้าง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/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ซ่อม/ติดตั้ง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7934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กรอกใบล้าง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ที่เครื่องที่ล้างเสร็จ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4064000" cy="843161"/>
          </a:xfrm>
          <a:prstGeom prst="roundRect">
            <a:avLst>
              <a:gd name="adj" fmla="val 9037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อีกทาง (รูปขวา):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เมนู แบบฟอร์มเอกสาร → กรอกฟอร์มล้าง → เลือกงานจากรายการ · เห็นเฉพาะงานที่ได้รับมอบหมาย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621161"/>
            <a:ext cx="4064000" cy="843161"/>
          </a:xfrm>
          <a:custGeom>
            <a:avLst/>
            <a:gdLst/>
            <a:ahLst/>
            <a:cxnLst/>
            <a:rect l="l" t="t" r="r" b="b"/>
            <a:pathLst>
              <a:path w="4064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หน้าตารางงานของผู้รับเหมาบนมือถือ มีแถบเตือนเลยกำหน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หน้าต่างเลือกงานล้างที่ได้รับมอบหมา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ฟอร์มล้าง ตอนที่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 เลือกเครื่อง และรอบในแผน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เขียนใบด้วยมือหรือกรอก Excel มาแล้ว? 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แนบไฟล์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ไม่ต้องกรอกซ้ำ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44196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ติ๊กเครื่องที่ล้างครั้งนี้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ล้างตัวเดียว เอาติ๊กอีกตัวออก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2E7D5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ปิดงานในแผนล้างแอร์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(รูปขวา) — ระบบเลือกปีและรอบให้แล้ว ตรวจให้ตรงกับงานจริง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03990"/>
            <a:ext cx="4064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ด้านบนบอกความคืบหน้า "กรอกแล้ว … ช่อง · รูป …" ตลอดการกรอก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803990"/>
            <a:ext cx="4064000" cy="629841"/>
          </a:xfrm>
          <a:custGeom>
            <a:avLst/>
            <a:gdLst/>
            <a:ahLst/>
            <a:cxnLst/>
            <a:rect l="l" t="t" r="r" b="b"/>
            <a:pathLst>
              <a:path w="4064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ฟอร์มล้างส่วนบน มีกล่องเลือกได้ 2 วิธี ปุ่มแนบไฟล์ และการ์ดเลือกเครื่อ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การ์ดปิดงานในแผนล้างแอร์ เลือกปีและรอบ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ฟอร์มล้าง ตอนที่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 21 ข้อ และรูปถ่าย 9 ช่องต่อเครื่อง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รูปซ้าย: 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ปกติ / ผิดปกติ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ทุกข้อ ทุกเครื่อง · ข้อที่เป็นตัวเลข (อุณหภูมิ แรงดัน กระแส) พิมพ์ค่าที่วัดได้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รูปขวา: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เลือกรูปดำเนินการ ช่อง 2–5 พร้อมกัน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ได้ในครั้งเดียว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10296"/>
            <a:ext cx="4064000" cy="843161"/>
          </a:xfrm>
          <a:prstGeom prst="roundRect">
            <a:avLst>
              <a:gd name="adj" fmla="val 9037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1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ก่อนล้าง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ช่อง 6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หลังล้าง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ช่อง 7–9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รูปวัดค่า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ต้องกดเลือกทีละช่อง เพราะคนละขั้นตอน · ต้องครบ 9 ช่องทุกเครื่องจึงบันทึกได้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410296"/>
            <a:ext cx="4064000" cy="843161"/>
          </a:xfrm>
          <a:custGeom>
            <a:avLst/>
            <a:gdLst/>
            <a:ahLst/>
            <a:cxnLst/>
            <a:rect l="l" t="t" r="r" b="b"/>
            <a:pathLst>
              <a:path w="4064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รายการตรวจเช็ค มีปุ่มปกติ ผิดปกติ ของเครื่องที่ 1 แล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2" name="Shape 9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ส่วนรูปถ่าย 9 ช่อง และปุ่มเลือกรูปช่อง 2 ถึง 5 พร้อมกั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5" name="Shape 11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ฟอร์มล้าง ตอนที่ 3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สรุปผล แล้วบันทึก — หรือแนบไฟล์แทน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ผลประเมินสภาพเครื่อง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เลือก สมบูรณ์ หรือ ควรปรับปรุง ทุกเครื่อง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เอกสารเข้าคิวอนุมัติทันที ชื่อผู้รับเหมาลงขั้น 1 ให้เอง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10296"/>
            <a:ext cx="4064000" cy="843161"/>
          </a:xfrm>
          <a:prstGeom prst="roundRect">
            <a:avLst>
              <a:gd name="adj" fmla="val 9037"/>
            </a:avLst>
          </a:prstGeom>
          <a:solidFill>
            <a:srgbClr val="EAF3EE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4D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รูปขวา · แนบไฟล์:</a:t>
            </a:r>
            <a:r>
              <a:rPr lang="en-US" sz="1200" dirty="0">
                <a:solidFill>
                  <a:srgbClr val="1E4D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① เลือก Node ② ติ๊กเครื่องที่ล้าง แล้วแนบรูปถ่าย/สแกนใบเขียนมือ กดยืนยัน — อนุมัติ 3 ขั้นเหมือนกัน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410296"/>
            <a:ext cx="4064000" cy="843161"/>
          </a:xfrm>
          <a:custGeom>
            <a:avLst/>
            <a:gdLst/>
            <a:ahLst/>
            <a:cxnLst/>
            <a:rect l="l" t="t" r="r" b="b"/>
            <a:pathLst>
              <a:path w="4064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9600" y="3367757"/>
            <a:ext cx="4064000" cy="416520"/>
          </a:xfrm>
          <a:prstGeom prst="roundRect">
            <a:avLst>
              <a:gd name="adj" fmla="val 18294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วันที่ล้างต้องไม่เกินวันนี้ — ปิดงานล่วงหน้าไม่ได้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3367757"/>
            <a:ext cx="4064000" cy="416520"/>
          </a:xfrm>
          <a:custGeom>
            <a:avLst/>
            <a:gdLst/>
            <a:ahLst/>
            <a:cxnLst/>
            <a:rect l="l" t="t" r="r" b="b"/>
            <a:pathLst>
              <a:path w="4064000" h="416520">
                <a:moveTo>
                  <a:pt x="76200" y="416520"/>
                </a:moveTo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40320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ส่วนผลประเมินสภาพเครื่องและปุ่มบันทึ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หน้าต่างแนบไฟล์เอกสาร เลือก Node และเลือกเครื่องที่ล้า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· Supervisor · Regional · Infrastructure · เมนู เอกสารรออนุมัติ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อนุมัติเอกสาร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ใบซ่อม · ใบล้าง · </a:t>
            </a:r>
            <a:r>
              <a:rPr lang="en-US" sz="1300" b="1" dirty="0" err="1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300" dirty="0">
              <a:solidFill>
                <a:srgbClr val="1B2433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(ตัวเลขแดง = รอคุณ)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เปิดเอกสาร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ตรวจให้ครบก่อน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อนุมัติขั้น …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แล้วกด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ชื่อและวันที่ของคุณลงช่องลงนามให้เอง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03996"/>
            <a:ext cx="3651250" cy="843161"/>
          </a:xfrm>
          <a:prstGeom prst="roundRect">
            <a:avLst>
              <a:gd name="adj" fmla="val 9037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เห็นเฉพาะใบที่ถึงขั้นของบทบาทตัวเอง · Staff ขั้น 2 → Supervisor/Regional ขั้น 3 → Infrastructure ขั้น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803996"/>
            <a:ext cx="3556000" cy="843161"/>
          </a:xfrm>
          <a:custGeom>
            <a:avLst/>
            <a:gdLst/>
            <a:ahLst/>
            <a:cxnLst/>
            <a:rect l="l" t="t" r="r" b="b"/>
            <a:pathLst>
              <a:path w="3556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3761457"/>
            <a:ext cx="3556000" cy="2222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หน้าต่างยืนยันการอนุมัติขั้น 2"/>
          <p:cNvPicPr>
            <a:picLocks noChangeAspect="1"/>
          </p:cNvPicPr>
          <p:nvPr/>
        </p:nvPicPr>
        <p:blipFill>
          <a:blip r:embed="rId3"/>
          <a:srcRect l="-108" r="-108"/>
          <a:stretch/>
        </p:blipFill>
        <p:spPr>
          <a:xfrm>
            <a:off x="615950" y="3767807"/>
            <a:ext cx="3543300" cy="2209800"/>
          </a:xfrm>
          <a:prstGeom prst="roundRect">
            <a:avLst>
              <a:gd name="adj" fmla="val 3161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612775" y="3764632"/>
            <a:ext cx="3549650" cy="2216150"/>
          </a:xfrm>
          <a:prstGeom prst="roundRect">
            <a:avLst>
              <a:gd name="adj" fmla="val 3295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หน้าเอกสารรออนุมัติ แท็บใบล้าง ปุ่มเปิดเอกสารและอนุมัติขั้น 2"/>
          <p:cNvPicPr>
            <a:picLocks noChangeAspect="1"/>
          </p:cNvPicPr>
          <p:nvPr/>
        </p:nvPicPr>
        <p:blipFill>
          <a:blip r:embed="rId4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ผลลัพธ์ของเหตุการณ์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 PDF ที่ระบบสร้างให้</a:t>
            </a:r>
            <a:endParaRPr lang="en-US" sz="28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257238"/>
            <a:ext cx="2540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1257238"/>
            <a:ext cx="6815201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หน้าตาเหมือนแบบฟอร์ม Excel เดิม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ITEL-FM-NE-004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(ล้าง) · 005 (ซ่อม) · 006 (ติดตั้ง)</a:t>
            </a:r>
            <a:endParaRPr lang="en-US" sz="14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894756"/>
            <a:ext cx="254000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200" y="18947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ช่องลงนาม 4 ช่อง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เติมชื่อและวันที่ตามคนที่กดอนุมัติแต่ละขั้น</a:t>
            </a:r>
            <a:endParaRPr lang="en-US" sz="14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2288456"/>
            <a:ext cx="254000" cy="25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5200" y="22884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ระหว่างรออนุมัติมีลายน้ำ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"รออนุมัติ"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หายตั้งแต่ขั้น 3 อนุมัติ</a:t>
            </a:r>
            <a:endParaRPr lang="en-US" sz="14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2682156"/>
            <a:ext cx="254000" cy="254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5200" y="26821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หน้าถัดไปของ PDF เป็น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ภาพถ่ายประกอบ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ทีละเครื่อง</a:t>
            </a:r>
            <a:endParaRPr lang="en-US" sz="14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3075856"/>
            <a:ext cx="254000" cy="254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5200" y="30758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มุมขวาบน: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ปริ้น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หรือ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 PDF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7988300" y="1257238"/>
            <a:ext cx="3594100" cy="508000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5" descr="ตัวอย่างเอกสาร PDF บันทึกผลการล้างและตรวจสอบเครื่องปรับอากาศ พร้อมช่องลงนามครบ 4 ช่อง"/>
          <p:cNvPicPr>
            <a:picLocks noChangeAspect="1"/>
          </p:cNvPicPr>
          <p:nvPr/>
        </p:nvPicPr>
        <p:blipFill>
          <a:blip r:embed="rId4"/>
          <a:srcRect t="-32" b="-32"/>
          <a:stretch/>
        </p:blipFill>
        <p:spPr>
          <a:xfrm>
            <a:off x="7994650" y="1263588"/>
            <a:ext cx="3581400" cy="5067300"/>
          </a:xfrm>
          <a:prstGeom prst="roundRect">
            <a:avLst>
              <a:gd name="adj" fmla="val 1950"/>
            </a:avLst>
          </a:prstGeom>
        </p:spPr>
      </p:pic>
      <p:sp>
        <p:nvSpPr>
          <p:cNvPr id="16" name="Shape 8"/>
          <p:cNvSpPr/>
          <p:nvPr/>
        </p:nvSpPr>
        <p:spPr>
          <a:xfrm>
            <a:off x="7991475" y="1260413"/>
            <a:ext cx="3587750" cy="5073650"/>
          </a:xfrm>
          <a:prstGeom prst="roundRect">
            <a:avLst>
              <a:gd name="adj" fmla="val 2035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 · เมนู แบบฟอร์มเอกสาร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ค้นหาและเปิดเอกสารทั้งหมด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ปริ้นฟอร์มเปล่า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ไปเขียนมือหน้างาน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38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38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กรอกฟอร์มล้าง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ในระบบ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19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192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ล้างแอร์ · ซ่อม · 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เลือกปี และค้นหา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583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5830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เปิดเอกสาร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ดู PDF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2964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9640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อนุมัติครบ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เอกสารสมบูรณ์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345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0600" y="33450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Staff · 1/4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บอกว่ารอขั้นไหนอยู่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3726061"/>
            <a:ext cx="3095297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 2 เครื่องแสดงเป็น 2 แถว </a:t>
            </a:r>
            <a:r>
              <a:rPr lang="en-US" sz="1200" dirty="0" err="1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เลขอ้างอิงต่อกัน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200" dirty="0">
              <a:solidFill>
                <a:srgbClr val="5A3A1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(เครื่องที่ 2 มีเส้นนำหน้า)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600" y="372606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หน้าแบบฟอร์มเอกสาร แท็บล้างแอร์ ตารางเอกสารพร้อมสถานะอนุมัติ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241935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2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06985"/>
            <a:ext cx="10883392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แอร์เสีย — แจ้งซ่อมจนปิดงาน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3752788"/>
            <a:ext cx="1053049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แจ้งซ่อม → อนุมัติซ่อม → มอบหมายผู้รับเหมา / ส่งลิงก์ช่างนอก → ใบซ่อม → อนุมัติ → เครื่องกลับมาใช้งาน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2 · ภาพรวม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สถานะเครื่องเปลี่ยนตามขั้นตอน — ใช้เลขเคส CM เดียวตลอดเรื่อง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311213"/>
            <a:ext cx="1720321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1633" y="1490067"/>
            <a:ext cx="1413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2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ทุกบทบาทที่มีสิทธิ์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1633" y="1779588"/>
            <a:ext cx="141340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แจ้งซ่อม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1633" y="2114823"/>
            <a:ext cx="14134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 </a:t>
            </a:r>
            <a:r>
              <a:rPr lang="en-US" sz="1200" b="1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ชำรุด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endParaRPr lang="th-TH" sz="1200" dirty="0">
              <a:solidFill>
                <a:srgbClr val="4A5568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ได้เลข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CM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7871" y="2033525"/>
            <a:ext cx="2794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22046" y="1311213"/>
            <a:ext cx="1720387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00904" y="1490067"/>
            <a:ext cx="14134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53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00904" y="1992908"/>
            <a:ext cx="141347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อนุมัติซ่อม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000904" y="2328143"/>
            <a:ext cx="14134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 </a:t>
            </a:r>
            <a:r>
              <a:rPr lang="en-US" sz="1200" b="1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รอซ่อม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เมื่ออนุมัติค่าใช้จ่ายแล้ว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7208" y="2033525"/>
            <a:ext cx="2794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31383" y="1311213"/>
            <a:ext cx="2129168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210241" y="1490067"/>
            <a:ext cx="18245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1 ทาง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210241" y="1779588"/>
            <a:ext cx="182459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ใครซ่อม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210241" y="2114823"/>
            <a:ext cx="182459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ผู้รับเหมามีบัญชี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ส่งลิงก์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ช่างนอก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ปิดงานเอง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Infrastructure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65326" y="2033525"/>
            <a:ext cx="2794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649501" y="1311213"/>
            <a:ext cx="1720387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828359" y="1490067"/>
            <a:ext cx="14134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ผู้ซ่อม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828359" y="1779588"/>
            <a:ext cx="141347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ใบซ่อม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828359" y="2114823"/>
            <a:ext cx="14134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 สาเหตุ การแก้ไข ค่าใช้จ่าย รูป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74664" y="2033525"/>
            <a:ext cx="279400" cy="1778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858839" y="1311213"/>
            <a:ext cx="1720387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10037697" y="1490067"/>
            <a:ext cx="14134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2 → 3 →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037697" y="1779588"/>
            <a:ext cx="141347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⑤ อนุมัติ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037697" y="2114823"/>
            <a:ext cx="14134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เครื่องกลับเป็น</a:t>
            </a: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200" dirty="0">
              <a:solidFill>
                <a:srgbClr val="4A5568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ใช้งานปกติ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09600" y="3165413"/>
            <a:ext cx="10972800" cy="762000"/>
          </a:xfrm>
          <a:prstGeom prst="roundRect">
            <a:avLst>
              <a:gd name="adj" fmla="val 13333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600" y="3368613"/>
            <a:ext cx="355600" cy="355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413063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ซ่อมไม่ได้?</a:t>
            </a:r>
            <a:r>
              <a:rPr lang="en-US" sz="15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กดปุ่ม "ซ่อมไม่ได้" ที่เคส แล้วไปต่อที่ </a:t>
            </a:r>
            <a:r>
              <a:rPr lang="en-US" sz="1500" b="1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3: เปลี่ยนเครื่อง</a:t>
            </a:r>
            <a:r>
              <a:rPr lang="en-US" sz="15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ยังใช้เลข CM เดิม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งานซ่อมและติดตั้ง → แจ้งซ่อมแอร์ใหม่ (หรือปุ่มแจ้งซ่อมในหน้าเครื่อง)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แจ้งซ่อม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รหัสเครื่องหรือชื่อ Node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แล้วเลือกจากรายการ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อาการเสีย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เช่น แอร์ไม่เย็น มีน้ำหยด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แจ้งซ่อม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เครื่องเป็น "ชำรุด" และเปิดเคสใหม่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03996"/>
            <a:ext cx="3063766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การแจ้งซ่อมเปลี่ยนแค่สถานะและบันทึกอาการ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200" dirty="0">
              <a:solidFill>
                <a:srgbClr val="5A3A1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ข้อมูลอื่นของเครื่องไม่ถูกแก้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803996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หน้าต่างแจ้งซ่อม มีช่องเครื่องที่แจ้ง อาการเสีย วันที่แจ้ง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เมนู งานซ่อมและติดตั้ง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– ③ จัดการเคสที่ยังไม่ปิด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แจ้งซ่อมแอร์ใหม่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600" y="16128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12838"/>
            <a:ext cx="327025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อนุมัติซ่อมแล้ว</a:t>
            </a:r>
            <a:r>
              <a:rPr lang="en-US" sz="125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กดเมื่ออนุมัติค่าใช้จ่ายแล้ว เครื่องเป็น "รอซ่อม"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600" y="211766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117663"/>
            <a:ext cx="327025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ปิดงาน + ออกเอกสาร</a:t>
            </a:r>
            <a:r>
              <a:rPr lang="en-US" sz="125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กรอกใบซ่อมเอง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9600" y="247326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473263"/>
            <a:ext cx="327025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ส่งลิงก์</a:t>
            </a:r>
            <a:r>
              <a:rPr lang="en-US" sz="125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ช่างที่ไม่มีบัญชีกรอกใบซ่อมผ่านลิงก์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9600" y="282886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828863"/>
            <a:ext cx="327025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</a:t>
            </a:r>
            <a:r>
              <a:rPr lang="en-US" sz="125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ผู้รับเหมาที่มีบัญชี เห็นงานในตารางงาน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9600" y="333368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0600" y="3333688"/>
            <a:ext cx="327025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ซ่อมไม่ได้</a:t>
            </a:r>
            <a:r>
              <a:rPr lang="en-US" sz="125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ไปเหตุการณ์ 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9600" y="368928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0600" y="3689288"/>
            <a:ext cx="347980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งานติดตั้งที่รอเอกสาร</a:t>
            </a:r>
            <a:r>
              <a:rPr lang="en-US" sz="125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เกิดหลังเปลี่ยนเครื่อง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หน้างานซ่อมและติดตั้ง เคสที่ยังไม่ปิดพร้อมปุ่มในแต่ละขั้น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ปุ่ม มอบหมาย / ส่งลิงก์ ในหน้างานซ่อม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ให้ใครซ่อม — 2 ทางหลัก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57238"/>
            <a:ext cx="52832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หน้าต่างมอบหมายงานซ่อม เลือกผู้รับเหมา วันนัด และบันทึก"/>
          <p:cNvPicPr>
            <a:picLocks noChangeAspect="1"/>
          </p:cNvPicPr>
          <p:nvPr/>
        </p:nvPicPr>
        <p:blipFill>
          <a:blip r:embed="rId3"/>
          <a:srcRect l="-72" r="-72"/>
          <a:stretch/>
        </p:blipFill>
        <p:spPr>
          <a:xfrm>
            <a:off x="615950" y="1263588"/>
            <a:ext cx="5270500" cy="3289300"/>
          </a:xfrm>
          <a:prstGeom prst="roundRect">
            <a:avLst>
              <a:gd name="adj" fmla="val 289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12775" y="1260413"/>
            <a:ext cx="52768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4686238"/>
            <a:ext cx="544169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 — ผู้รับเหมามีบัญชี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600" y="5087541"/>
            <a:ext cx="544169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เลือก ผู้รับเหมาซ่อม หรือ ซ่อมเอง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เลือกผู้รับเหมา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วันนัด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300" dirty="0" err="1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300" dirty="0">
              <a:solidFill>
                <a:srgbClr val="1B2433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งานขึ้นในตารางงานของผู้รับเหมา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9200" y="1257238"/>
            <a:ext cx="52832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หน้าต่างลิงก์กรอกเอกสารซ่อม ตั้งวันนัดและอายุลิงก์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6305550" y="1263588"/>
            <a:ext cx="5270500" cy="3289300"/>
          </a:xfrm>
          <a:prstGeom prst="roundRect">
            <a:avLst>
              <a:gd name="adj" fmla="val 2896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6302375" y="1260413"/>
            <a:ext cx="52768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99200" y="4686238"/>
            <a:ext cx="544169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ส่งลิงก์ — ช่างนอก ไม่มีบัญชี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299200" y="5087541"/>
            <a:ext cx="544169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ใส่วันนัด · เลือกอายุลิงก์ · 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สร้างลิงก์ใหม่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แล้ว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คัดลอก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ส่งทาง LINE · </a:t>
            </a:r>
            <a:endParaRPr lang="th-TH" sz="1300" dirty="0">
              <a:solidFill>
                <a:srgbClr val="1B2433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 err="1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ช่างส่งได้ครั้งเดียว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สร้างใหม่แล้วลิงก์เดิมใช้ไม่ได้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บนมือถือ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ผู้รับเหมากรอกใบซ่อม / ใบติดตั้ง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ตารางงาน → 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ซ่อม/ติดตั้ง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เห็นวันนัด หมายเหตุ และป้าย "อีก … วัน"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กรอกใบซ่อม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(หรือ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กรอกใบติดตั้ง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วันที่ซ่อมเสร็จ · อาการ · สาเหตุ · การแก้ไข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ค่าที่วัด อะไหล่ ค่าใช้จ่าย และรูป แล้วกดบันทึก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03996"/>
            <a:ext cx="4064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อาการเสียเติมให้จากใบแจ้งซ่อม · </a:t>
            </a:r>
            <a:r>
              <a:rPr lang="en-US" sz="1200" dirty="0" err="1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ใบเขียนมือใช้ปุ่ม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200" dirty="0">
              <a:solidFill>
                <a:srgbClr val="5A3A1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แนบไฟล์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ได้เหมือนฟอร์มล้าง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803996"/>
            <a:ext cx="4064000" cy="629841"/>
          </a:xfrm>
          <a:custGeom>
            <a:avLst/>
            <a:gdLst/>
            <a:ahLst/>
            <a:cxnLst/>
            <a:rect l="l" t="t" r="r" b="b"/>
            <a:pathLst>
              <a:path w="4064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ตารางงานผู้รับเหมา แท็บซ่อมและติดตั้ง มีงานติดตั้งและงานซ่อ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ฟอร์มบันทึกผลการซ่อมบนมือถื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ช่างนอก · เปิดจากลิงก์ ไม่ต้องล็อกอิน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ช่างนอกกรอกใบซ่อมผ่านลิงก์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483997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ช่างกดลิงก์ที่ได้ทาง LINE — เห็นเครื่องที่ต้องซ่อมและ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วันนัดเข้าทำงาน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88205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82056"/>
            <a:ext cx="483997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วันที่ซ่อมเสร็จ · อาการ · การแก้ไข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และรูป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28845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88456"/>
            <a:ext cx="483997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กดส่ง — เคสปิด ใบซ่อมเข้าคิวอนุมัติ ช่างโหลด PDF เก็บได้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2694856"/>
            <a:ext cx="5080000" cy="690827"/>
          </a:xfrm>
          <a:prstGeom prst="roundRect">
            <a:avLst>
              <a:gd name="adj" fmla="val 11030"/>
            </a:avLst>
          </a:prstGeom>
          <a:solidFill>
            <a:srgbClr val="FFF3E6"/>
          </a:solidFill>
          <a:ln/>
        </p:spPr>
        <p:txBody>
          <a:bodyPr wrap="square" lIns="168182" tIns="91982" rIns="0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ลิงก์ใช้ได้ </a:t>
            </a:r>
            <a:r>
              <a:rPr lang="en-US" sz="13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ครั้งเดียว</a:t>
            </a:r>
            <a:r>
              <a:rPr lang="en-US" sz="13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และหมดอายุตามวันที่ตั้ง · ลิงก์ต้องเปิดจากเครื่องที่เข้าถึงเว็บได้ (ถ้าเว็บอยู่ในวงแลน มือถือต้องต่อ Wi-Fi บริษัท)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600" y="2694856"/>
            <a:ext cx="5080000" cy="690827"/>
          </a:xfrm>
          <a:custGeom>
            <a:avLst/>
            <a:gdLst/>
            <a:ahLst/>
            <a:cxnLst/>
            <a:rect l="l" t="t" r="r" b="b"/>
            <a:pathLst>
              <a:path w="5080000" h="690827">
                <a:moveTo>
                  <a:pt x="76200" y="690827"/>
                </a:moveTo>
                <a:lnTo>
                  <a:pt x="76200" y="690827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614627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962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หน้าบันทึกผลการซ่อมที่ช่างนอกเปิดจากลิงก์ มีวันนัดเข้าทำงา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77152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241935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3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06985"/>
            <a:ext cx="10883392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ซ่อมไม่ได้ — เปลี่ยนเครื่องใหม่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3752788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ซ่อมไม่ได้ → เปลี่ยนเครื่อง → งานติดตั้งรอเอกสาร → ใบติดตั้ง → อนุมัติ · เครื่องเก่าเข้าคลังแอร์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ปุ่ม ซ่อมไม่ได้ → เมนูท้ายแถวในรายการเครื่อง "เปลี่ยนเครื่อง"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ปิดแบบซ่อมไม่ได้ แล้วเปลี่ยนตัวเครื่อง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57238"/>
            <a:ext cx="52832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หน้าต่างซ่อมไม่ได้ กรอกเหตุผล"/>
          <p:cNvPicPr>
            <a:picLocks noChangeAspect="1"/>
          </p:cNvPicPr>
          <p:nvPr/>
        </p:nvPicPr>
        <p:blipFill>
          <a:blip r:embed="rId3"/>
          <a:srcRect l="-72" r="-72"/>
          <a:stretch/>
        </p:blipFill>
        <p:spPr>
          <a:xfrm>
            <a:off x="615950" y="1263588"/>
            <a:ext cx="5270500" cy="3289300"/>
          </a:xfrm>
          <a:prstGeom prst="roundRect">
            <a:avLst>
              <a:gd name="adj" fmla="val 289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12775" y="1260413"/>
            <a:ext cx="52768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4686238"/>
            <a:ext cx="544169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 · ซ่อมไม่ได้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600" y="5087541"/>
            <a:ext cx="544169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กรอกเหตุผล เช่น อะไหล่เลิกผลิต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ยืนยัน — </a:t>
            </a:r>
            <a:r>
              <a:rPr lang="en-US" sz="1300" dirty="0" err="1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เครื่องเป็น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300" dirty="0">
              <a:solidFill>
                <a:srgbClr val="1B2433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"รื้อถอน/ปลดระวาง" เคสยังเปิดอยู่จนเปลี่ยนเครื่องเสร็จ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9200" y="1257238"/>
            <a:ext cx="52832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หน้าต่างเปลี่ยนเครื่องใหม่แทน กรอก Serial ทะเบียน วันติดตั้ง ค่าใช้จ่าย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6305550" y="1263588"/>
            <a:ext cx="5270500" cy="3289300"/>
          </a:xfrm>
          <a:prstGeom prst="roundRect">
            <a:avLst>
              <a:gd name="adj" fmla="val 2896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6302375" y="1260413"/>
            <a:ext cx="52768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99200" y="4686238"/>
            <a:ext cx="544169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 · เปลี่ยนเครื่อง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299200" y="5087541"/>
            <a:ext cx="544169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S/N ทะเบียน ยี่ห้อ ของเครื่องใหม่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วันติดตั้ง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ยืนยัน — รหัสเครื่องเดิมคงไว้ ประวัติไม่หาย เครื่องเก่าเข้าคลังแอร์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Infrastructure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ใบติดตั้งปิดเคส · เครื่องเก่าอยู่ในคลังแอร์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235458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หน้างานซ่อม แถว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งานติดตั้งที่รอเอกสาร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มอบหมาย หรือส่งลิงก์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20648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064879"/>
            <a:ext cx="235458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ผู้รับเหมา: แบบฟอร์มเอกสาร →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กรอกฟอร์มติดตั้ง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เลือกงาน (มือถือ)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87251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872519"/>
            <a:ext cx="235458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อนุมัติครบ → เครื่อง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ใช้งานปกติ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เคสปิด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4490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3449042"/>
            <a:ext cx="235458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เครื่องเก่า: เมนู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คลังแอร์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เพิ่มโน้ต หรือ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Write off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เมื่อตัดจำหน่าย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32200" y="1257238"/>
            <a:ext cx="2095500" cy="45339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หน้าต่างเลือกงานติดตั้งของผู้รับเหมาบนมือถื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0" y="1339202"/>
            <a:ext cx="2019300" cy="4369972"/>
          </a:xfrm>
          <a:custGeom>
            <a:avLst/>
            <a:gdLst/>
            <a:ahLst/>
            <a:cxnLst/>
            <a:rect l="l" t="t" r="r" b="b"/>
            <a:pathLst>
              <a:path w="2019300" h="4369972">
                <a:moveTo>
                  <a:pt x="0" y="95836"/>
                </a:moveTo>
                <a:arcTo wR="139700" hR="139700" stAng="10800000" swAng="2598924"/>
                <a:lnTo>
                  <a:pt x="1981244" y="0"/>
                </a:lnTo>
                <a:arcTo wR="139700" hR="139700" stAng="19001076" swAng="2598924"/>
                <a:lnTo>
                  <a:pt x="2019300" y="4274136"/>
                </a:lnTo>
                <a:arcTo wR="139700" hR="139700" stAng="0" swAng="2598924"/>
                <a:lnTo>
                  <a:pt x="38056" y="4369972"/>
                </a:lnTo>
                <a:arcTo wR="139700" hR="139700" stAng="8201076" swAng="2598924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3651250" y="1276288"/>
            <a:ext cx="2057400" cy="4495800"/>
          </a:xfrm>
          <a:prstGeom prst="roundRect">
            <a:avLst>
              <a:gd name="adj" fmla="val 7716"/>
            </a:avLst>
          </a:prstGeom>
          <a:noFill/>
          <a:ln w="38100">
            <a:solidFill>
              <a:srgbClr val="1B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83300" y="1257238"/>
            <a:ext cx="5334000" cy="333375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หน้าคลังแอร์ แสดงเครื่องเก่าที่ถอดออกพร้อมปุ่ม Write off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6089650" y="1263588"/>
            <a:ext cx="5321300" cy="3321050"/>
          </a:xfrm>
          <a:prstGeom prst="roundRect">
            <a:avLst>
              <a:gd name="adj" fmla="val 2868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6086475" y="1260413"/>
            <a:ext cx="5327650" cy="3327400"/>
          </a:xfrm>
          <a:prstGeom prst="roundRect">
            <a:avLst>
              <a:gd name="adj" fmla="val 2958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2590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ส่วนสุดท้าย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078435"/>
            <a:ext cx="10883392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 ผู้ใช้ และเรื่องควรรู้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3924250"/>
            <a:ext cx="91567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 · แผนเปลี่ยนเครื่อง · จัดการผู้ใช้ · ประวัติ · เปลี่ยนรหัสผ่าน · ข้อควรจำ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เมนู งบประมาณ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 4 หมวด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ตั้งค่างบประมาณ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ของปีนั้น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446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เพิ่มเติม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ส่งออก / นำเข้างบเป็น Excel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4383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438350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การ์ดแต่ละหมวด: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ตั้งงบ · ใช้ไป · คงเหลือ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(ล้าง · ซ่อม · จัดซื้อ · ติดตั้ง)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014861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"ใช้ไป" นับเองจากเอกสารและประวัติ ไม่ต้องกรอก · ด้านล่างมีกราฟค่าใช้จ่ายรายเดือน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01486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70400" y="1257250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หน้างบประมาณปี 2027 การ์ด 4 หมวด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600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4473575" y="1260425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แก้ได้ · ผู้มีสิทธิ์งบดูได้ · เมนู แผนเปลี่ยนเครื่อง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แผนเปลี่ยนเครื่อง (อายุเกิน 8 ปี)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50"/>
            <a:ext cx="3479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บันทึกราคา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เครื่องและค่าติดตั้งตามขนาด BTU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50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ตั้งงบตามยอดตามแผน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ส่งยอดไปหน้างบประมาณ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ติ๊กเครื่อง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ที่จะเปลี่ยนจริงในปีนั้น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621161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กรองอายุ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แบบ Excel · Region · ส่งออก Excel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197696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การ์ดด้านบนสรุปจำนวนเครื่องตามอายุ ยอดตามแผน และแถบบอกว่า "อยู่ในงบ" หรือ "เกินงบ"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197696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70400" y="1257250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หน้าแผนเปลี่ยนเครื่องปีงบ 2027 พร้อมการ์ดสรุปและตารางเครื่อง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600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4473575" y="1260425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เมนู จัดการผู้ใช้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เพิ่มผู้ใช้และกำหนดสิทธิ์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57250"/>
            <a:ext cx="52832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หน้าจัดการผู้ใช้งาน ปุ่มเพิ่มผู้ใช้และนำเข้า"/>
          <p:cNvPicPr>
            <a:picLocks noChangeAspect="1"/>
          </p:cNvPicPr>
          <p:nvPr/>
        </p:nvPicPr>
        <p:blipFill>
          <a:blip r:embed="rId3"/>
          <a:srcRect l="-72" r="-72"/>
          <a:stretch/>
        </p:blipFill>
        <p:spPr>
          <a:xfrm>
            <a:off x="615950" y="1263600"/>
            <a:ext cx="5270500" cy="3289300"/>
          </a:xfrm>
          <a:prstGeom prst="roundRect">
            <a:avLst>
              <a:gd name="adj" fmla="val 289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12775" y="1260425"/>
            <a:ext cx="52768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4686250"/>
            <a:ext cx="544169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รายชื่อผู้ใช้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600" y="5087541"/>
            <a:ext cx="544169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เพิ่มผู้ใช้งาน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นำเข้าหลายคนจาก Excel (โหลด Template ก่อน)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แถวผู้ใช้ — ปุ่มแก้ไข (ตั้งรหัสผ่านใหม่ได้ในนี้) และลบ อยู่ท้ายแถว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9200" y="1257250"/>
            <a:ext cx="5283200" cy="330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หน้าต่างเพิ่มผู้ใช้งานใหม่ มี Username รหัสผ่าน บทบาท Region และสิทธิ์รายเมนู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6305550" y="1263600"/>
            <a:ext cx="5270500" cy="3289300"/>
          </a:xfrm>
          <a:prstGeom prst="roundRect">
            <a:avLst>
              <a:gd name="adj" fmla="val 2896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6302375" y="1260425"/>
            <a:ext cx="5276850" cy="3295650"/>
          </a:xfrm>
          <a:prstGeom prst="roundRect">
            <a:avLst>
              <a:gd name="adj" fmla="val 2987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99200" y="4686250"/>
            <a:ext cx="544169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หน้าต่างเพิ่มผู้ใช้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299200" y="5087541"/>
            <a:ext cx="544169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Username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รหัสผ่าน (อย่างน้อย 6 ตัว)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บทบาท ·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Region ที่รับผิดชอบ · ด้านล่างตั้ง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สิทธิ์รายเมนู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แก้ไขได้ / ดูอย่างเดียว / ไม่ให้เข้าถึง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 · Staff · Supervisor · Regional · เมนู ประวัติ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ประวัติการทำงานทั้งหมด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 · Region · ประเภทเหตุการณ์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CSV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ส่งออกไปเปิดใน Excel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446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บันทึกประวัติ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เหตุการณ์ที่ไม่มีเอกสาร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4383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438350"/>
            <a:ext cx="32702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เลขอ้างอิง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กดไปที่เอกสารในหน้าแบบฟอร์มเอกสาร · ลูกศรซ้าย = พับ/กางรายการของเคสเดียวกัน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245991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PM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งานล้างตามแผน ·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CM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งานซ่อม/ติดตั้ง · ตามด้วยปี-เดือน และลำดับ เช่น CM2610-04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24599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70400" y="1257250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หน้าประวัติการทำงาน ตัวกรอง ปุ่ม CSV บันทึกประวัติ และเลขอ้างอิง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600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4473575" y="1260425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 · มุมล่างซ้าย กดชื่อตัวเอง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เปลี่ยนรหัสผ่านด้วยตัวเอง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รหัสผ่านเดิม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แล้ว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รหัสผ่านใหม่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2 ครั้ง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50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ได้รหัสชั่วคราวจากผู้ดูแลระบบ ควรเปลี่ยนเป็นของตัวเองตั้งแต่เข้าใช้ครั้งแรก · ไม่บอกรหัสผ่านให้คนอื่น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044650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70400" y="1257250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หน้าต่างเปลี่ยนรหัสผ่าน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600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4473575" y="1260425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ก่อนปิดคู่มือ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39130"/>
            <a:ext cx="11301984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ข้อควรจำ 6 ข้อ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600" y="1435050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1612850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· วันที่ปิดงานห้ามล่วงหน้า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1907456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วันที่ล้าง ซ่อมเสร็จ ติดตั้ง ต้องไม่เกินวันนี้ · วันนัดตั้งล่วงหน้าได้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35050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75400" y="1612850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· รูปต้องครบก่อนบันทึก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5400" y="1907456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ฟอร์มล้าง 9 ช่องต่อเครื่อง · ช่อง 2–5 เลือกพร้อมกันได้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600" y="2468761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2800" y="2646561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· แก้เอกสาร = อนุมัติใหม่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2941191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แก้รูปหรือรวมเครื่องที่ 2 เข้าใบเดิม ชื่อผู้อนุมัติขั้น 2–4 จะถูกล้าง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761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75400" y="2646561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· อนุมัติตามลำดับ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5400" y="2941191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→ Supervisor/Regional → Infrastructure ข้ามขั้นไม่ได้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600" y="3502496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2800" y="3680296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· เขียนมือก็ได้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3974902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ปริ้นฟอร์มเปล่า เขียนหน้างาน แล้วกด "แนบไฟล์" ถ่ายรูปส่งเข้าระบบ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502496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75400" y="3680296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· ติดปัญหา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5400" y="3974902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ติดต่อ Infrastructure (ผู้ดูแลระบบ) · แจ้งชื่อหน้าและเลขอ้างอิงเอกสาร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คู่มือการใช้งานเว็บแอร์">
  <a:themeElements>
    <a:clrScheme name="คู่มือการใช้งานเว็บแอร์">
      <a:dk1>
        <a:srgbClr val="12294A"/>
      </a:dk1>
      <a:lt1>
        <a:srgbClr val="F5F7FA"/>
      </a:lt1>
      <a:dk2>
        <a:srgbClr val="4B5D76"/>
      </a:dk2>
      <a:lt2>
        <a:srgbClr val="DEE2E8"/>
      </a:lt2>
      <a:accent1>
        <a:srgbClr val="C75300"/>
      </a:accent1>
      <a:accent2>
        <a:srgbClr val="B34700"/>
      </a:accent2>
      <a:accent3>
        <a:srgbClr val="5A3A1A"/>
      </a:accent3>
      <a:accent4>
        <a:srgbClr val="F2A65A"/>
      </a:accent4>
      <a:accent5>
        <a:srgbClr val="1C3A66"/>
      </a:accent5>
      <a:accent6>
        <a:srgbClr val="E8711C"/>
      </a:accent6>
      <a:hlink>
        <a:srgbClr val="0563C1"/>
      </a:hlink>
      <a:folHlink>
        <a:srgbClr val="954F72"/>
      </a:folHlink>
    </a:clrScheme>
    <a:fontScheme name="คู่มือการใช้งานเว็บแอร์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3281</Words>
  <Application>Microsoft Office PowerPoint</Application>
  <PresentationFormat>Widescreen</PresentationFormat>
  <Paragraphs>456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Tahoma</vt:lpstr>
      <vt:lpstr>คู่มือการใช้งานเว็บแอร์</vt:lpstr>
      <vt:lpstr>คู่มือการใช้งาน ระบบบริหารจัดการเครื่องปรับอากาศ</vt:lpstr>
      <vt:lpstr>เลือกหัวข้อ — กดชื่อเรื่องเพื่อไปหน้านั้น</vt:lpstr>
      <vt:lpstr>ใครใช้อะไร — 5 บทบาทในระบบ</vt:lpstr>
      <vt:lpstr>เข้าสู่ระบบ</vt:lpstr>
      <vt:lpstr>หน้าจอหลัก (แดชบอร์ด)</vt:lpstr>
      <vt:lpstr>ดูแลทะเบียนเครื่อง และแผนล้างแอร์</vt:lpstr>
      <vt:lpstr>รายการเครื่องปรับอากาศ</vt:lpstr>
      <vt:lpstr>หาเครื่องตามอายุ เช่น "10 ปีขึ้นไปมีตัวไหนบ้าง"</vt:lpstr>
      <vt:lpstr>รายละเอียดเครื่อง 1 ตัว</vt:lpstr>
      <vt:lpstr>แผนล้างแอร์ประจำปี (ปีละ 3 รอบ)</vt:lpstr>
      <vt:lpstr>ตั้งวันนัดและมอบงานล้างให้ผู้รับเหมา</vt:lpstr>
      <vt:lpstr>ปฏิทินนัดหมายล้างแอร์</vt:lpstr>
      <vt:lpstr>ล้างแอร์ตามแผน</vt:lpstr>
      <vt:lpstr>ล้างแอร์ 1 รอบ เดินงานแบบนี้</vt:lpstr>
      <vt:lpstr>ดูงานของตัวเอง แล้วเลือกงานที่จะกรอก</vt:lpstr>
      <vt:lpstr>เลือกวิธี เลือกเครื่อง และรอบในแผน</vt:lpstr>
      <vt:lpstr>ผลตรวจ 21 ข้อ และรูปถ่าย 9 ช่องต่อเครื่อง</vt:lpstr>
      <vt:lpstr>สรุปผล แล้วบันทึก — หรือแนบไฟล์แทน</vt:lpstr>
      <vt:lpstr>อนุมัติเอกสาร</vt:lpstr>
      <vt:lpstr>เอกสาร PDF ที่ระบบสร้างให้</vt:lpstr>
      <vt:lpstr>ค้นหาและเปิดเอกสารทั้งหมด</vt:lpstr>
      <vt:lpstr>แอร์เสีย — แจ้งซ่อมจนปิดงาน</vt:lpstr>
      <vt:lpstr>สถานะเครื่องเปลี่ยนตามขั้นตอน — ใช้เลขเคส CM เดียวตลอดเรื่อง</vt:lpstr>
      <vt:lpstr>① แจ้งซ่อม</vt:lpstr>
      <vt:lpstr>② – ③ จัดการเคสที่ยังไม่ปิด</vt:lpstr>
      <vt:lpstr>③ ให้ใครซ่อม — 2 ทางหลัก</vt:lpstr>
      <vt:lpstr>④ ผู้รับเหมากรอกใบซ่อม / ใบติดตั้ง</vt:lpstr>
      <vt:lpstr>④ ช่างนอกกรอกใบซ่อมผ่านลิงก์</vt:lpstr>
      <vt:lpstr>ซ่อมไม่ได้ — เปลี่ยนเครื่องใหม่</vt:lpstr>
      <vt:lpstr>ปิดแบบซ่อมไม่ได้ แล้วเปลี่ยนตัวเครื่อง</vt:lpstr>
      <vt:lpstr>ใบติดตั้งปิดเคส · เครื่องเก่าอยู่ในคลังแอร์</vt:lpstr>
      <vt:lpstr>งบประมาณ ผู้ใช้ และเรื่องควรรู้</vt:lpstr>
      <vt:lpstr>งบประมาณ 4 หมวด</vt:lpstr>
      <vt:lpstr>แผนเปลี่ยนเครื่อง (อายุเกิน 8 ปี)</vt:lpstr>
      <vt:lpstr>เพิ่มผู้ใช้และกำหนดสิทธิ์</vt:lpstr>
      <vt:lpstr>ประวัติการทำงานทั้งหมด</vt:lpstr>
      <vt:lpstr>เปลี่ยนรหัสผ่านด้วยตัวเอง</vt:lpstr>
      <vt:lpstr>ข้อควรจำ 6 ข้อ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คู่มือการใช้งานเว็บแอร์</dc:title>
  <dc:subject/>
  <dc:creator/>
  <cp:lastModifiedBy>NB-TELECOM1193</cp:lastModifiedBy>
  <cp:revision>4</cp:revision>
  <dcterms:created xsi:type="dcterms:W3CDTF">2026-10-20T05:33:16Z</dcterms:created>
  <dcterms:modified xsi:type="dcterms:W3CDTF">2026-10-20T09:35:42Z</dcterms:modified>
</cp:coreProperties>
</file>